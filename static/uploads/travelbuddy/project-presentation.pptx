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259" r:id="rId4"/>
    <p:sldId id="260" r:id="rId5"/>
    <p:sldId id="262" r:id="rId6"/>
    <p:sldId id="263" r:id="rId7"/>
    <p:sldId id="264" r:id="rId8"/>
    <p:sldId id="265" r:id="rId9"/>
    <p:sldId id="266" r:id="rId10"/>
    <p:sldId id="267" r:id="rId11"/>
    <p:sldId id="268" r:id="rId12"/>
    <p:sldId id="275" r:id="rId13"/>
    <p:sldId id="276" r:id="rId14"/>
    <p:sldId id="277" r:id="rId15"/>
    <p:sldId id="278" r:id="rId16"/>
    <p:sldId id="279" r:id="rId17"/>
    <p:sldId id="280" r:id="rId18"/>
    <p:sldId id="281" r:id="rId19"/>
    <p:sldId id="282" r:id="rId20"/>
    <p:sldId id="283" r:id="rId21"/>
    <p:sldId id="284" r:id="rId22"/>
    <p:sldId id="274"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95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29D6C-EEDD-0200-9627-B1762F5C71BF}" v="3" dt="2025-11-22T19:01:05.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7059A-5FB4-4CAE-8975-32A88AC329A0}" type="datetimeFigureOut">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91975-1EEC-4F78-BA83-7DAC2BC663F0}" type="slidenum">
              <a:t>‹#›</a:t>
            </a:fld>
            <a:endParaRPr lang="en-US"/>
          </a:p>
        </p:txBody>
      </p:sp>
    </p:spTree>
    <p:extLst>
      <p:ext uri="{BB962C8B-B14F-4D97-AF65-F5344CB8AC3E}">
        <p14:creationId xmlns:p14="http://schemas.microsoft.com/office/powerpoint/2010/main" val="3928743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Una de las motivaciones principales por las que decidimos al final desarrollar esta aplicación es que no hay muchas otras alternativas disponibles. Encontramos solo estas dos opciones, que, sin embargo, tienen objetivos un poco diferentes.</a:t>
            </a:r>
            <a:br>
              <a:rPr lang="es-ES">
                <a:cs typeface="+mn-lt"/>
              </a:rPr>
            </a:br>
            <a:r>
              <a:rPr lang="es-ES"/>
              <a:t> </a:t>
            </a:r>
            <a:r>
              <a:rPr lang="es-ES" err="1"/>
              <a:t>ShowAround</a:t>
            </a:r>
            <a:r>
              <a:rPr lang="es-ES"/>
              <a:t> es una página web que permite a los viajeros conectarse con personas locales para pasar tiempo juntos. Los viajeros pagan para que el guía se encargue de llevarlos físicamente a varios sitios, por lo que requiere la presencia física del guía.</a:t>
            </a:r>
            <a:br>
              <a:rPr lang="es-ES">
                <a:cs typeface="+mn-lt"/>
              </a:rPr>
            </a:br>
            <a:r>
              <a:rPr lang="es-ES"/>
              <a:t> Ask a local es una aplicación en la cual los viajeros pueden subir preguntas relacionadas con un lugar y las personas locales responden a esas preguntas. La diferencia principal con </a:t>
            </a:r>
            <a:r>
              <a:rPr lang="es-ES" err="1"/>
              <a:t>TravelBuddy</a:t>
            </a:r>
            <a:r>
              <a:rPr lang="es-ES"/>
              <a:t> es que Ask a local no crea una relación específica entre un grupo de viajeros y un guía. Es más bien un sistema para proporcionar respuestas</a:t>
            </a:r>
            <a:r>
              <a:rPr lang="es-ES" b="0"/>
              <a:t> a </a:t>
            </a:r>
            <a:r>
              <a:rPr lang="es-ES"/>
              <a:t>preguntas que </a:t>
            </a:r>
            <a:r>
              <a:rPr lang="es-ES" b="0"/>
              <a:t>los </a:t>
            </a:r>
            <a:r>
              <a:rPr lang="es-ES"/>
              <a:t>viajeros podrían tener.</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BE159A36-4230-4304-9537-175EC2E9D316}" type="slidenum">
              <a:rPr lang="en-GB" smtClean="0"/>
              <a:t>6</a:t>
            </a:fld>
            <a:endParaRPr lang="en-GB"/>
          </a:p>
        </p:txBody>
      </p:sp>
    </p:spTree>
    <p:extLst>
      <p:ext uri="{BB962C8B-B14F-4D97-AF65-F5344CB8AC3E}">
        <p14:creationId xmlns:p14="http://schemas.microsoft.com/office/powerpoint/2010/main" val="1455413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Entonces</a:t>
            </a:r>
            <a:r>
              <a:rPr lang="en-US"/>
              <a:t>, las </a:t>
            </a:r>
            <a:r>
              <a:rPr lang="en-US" err="1"/>
              <a:t>ventajas</a:t>
            </a:r>
            <a:r>
              <a:rPr lang="en-US"/>
              <a:t> de </a:t>
            </a:r>
            <a:r>
              <a:rPr lang="en-US" err="1"/>
              <a:t>TravelBuddy</a:t>
            </a:r>
            <a:r>
              <a:rPr lang="en-US"/>
              <a:t> son </a:t>
            </a:r>
            <a:r>
              <a:rPr lang="en-US" err="1"/>
              <a:t>muchas</a:t>
            </a:r>
            <a:r>
              <a:rPr lang="en-US"/>
              <a:t>. El </a:t>
            </a:r>
            <a:r>
              <a:rPr lang="en-US" err="1"/>
              <a:t>objetivo</a:t>
            </a:r>
            <a:r>
              <a:rPr lang="en-US"/>
              <a:t> principal es </a:t>
            </a:r>
            <a:r>
              <a:rPr lang="en-US" err="1"/>
              <a:t>ayudar</a:t>
            </a:r>
            <a:r>
              <a:rPr lang="en-US"/>
              <a:t> a ambos, </a:t>
            </a:r>
            <a:r>
              <a:rPr lang="en-US" err="1"/>
              <a:t>viajeros</a:t>
            </a:r>
            <a:r>
              <a:rPr lang="en-US"/>
              <a:t> y </a:t>
            </a:r>
            <a:r>
              <a:rPr lang="en-US" err="1"/>
              <a:t>guías</a:t>
            </a:r>
            <a:r>
              <a:rPr lang="en-US"/>
              <a:t>. Los </a:t>
            </a:r>
            <a:r>
              <a:rPr lang="en-US" err="1"/>
              <a:t>viajeros</a:t>
            </a:r>
            <a:r>
              <a:rPr lang="en-US"/>
              <a:t> </a:t>
            </a:r>
            <a:r>
              <a:rPr lang="en-US" err="1"/>
              <a:t>ahorran</a:t>
            </a:r>
            <a:r>
              <a:rPr lang="en-US"/>
              <a:t> </a:t>
            </a:r>
            <a:r>
              <a:rPr lang="en-US" err="1"/>
              <a:t>mucho</a:t>
            </a:r>
            <a:r>
              <a:rPr lang="en-US"/>
              <a:t> </a:t>
            </a:r>
            <a:r>
              <a:rPr lang="en-US" err="1"/>
              <a:t>tiempo</a:t>
            </a:r>
            <a:r>
              <a:rPr lang="en-US"/>
              <a:t> </a:t>
            </a:r>
            <a:r>
              <a:rPr lang="en-US" err="1"/>
              <a:t>preparándose</a:t>
            </a:r>
            <a:r>
              <a:rPr lang="en-US"/>
              <a:t> para </a:t>
            </a:r>
            <a:r>
              <a:rPr lang="en-US" err="1"/>
              <a:t>el</a:t>
            </a:r>
            <a:r>
              <a:rPr lang="en-US"/>
              <a:t> </a:t>
            </a:r>
            <a:r>
              <a:rPr lang="en-US" err="1"/>
              <a:t>viaje</a:t>
            </a:r>
            <a:r>
              <a:rPr lang="en-US"/>
              <a:t>, </a:t>
            </a:r>
            <a:r>
              <a:rPr lang="en-US" err="1"/>
              <a:t>mientras</a:t>
            </a:r>
            <a:r>
              <a:rPr lang="en-US"/>
              <a:t> que </a:t>
            </a:r>
            <a:r>
              <a:rPr lang="en-US" err="1"/>
              <a:t>los</a:t>
            </a:r>
            <a:r>
              <a:rPr lang="en-US"/>
              <a:t> </a:t>
            </a:r>
            <a:r>
              <a:rPr lang="en-US" err="1"/>
              <a:t>guías</a:t>
            </a:r>
            <a:r>
              <a:rPr lang="en-US"/>
              <a:t> </a:t>
            </a:r>
            <a:r>
              <a:rPr lang="en-US" err="1"/>
              <a:t>pueden</a:t>
            </a:r>
            <a:r>
              <a:rPr lang="en-US"/>
              <a:t> </a:t>
            </a:r>
            <a:r>
              <a:rPr lang="en-US" err="1"/>
              <a:t>ganar</a:t>
            </a:r>
            <a:r>
              <a:rPr lang="en-US"/>
              <a:t> dinero de </a:t>
            </a:r>
            <a:r>
              <a:rPr lang="en-US" err="1"/>
              <a:t>manera</a:t>
            </a:r>
            <a:r>
              <a:rPr lang="en-US"/>
              <a:t> </a:t>
            </a:r>
            <a:r>
              <a:rPr lang="en-US" err="1"/>
              <a:t>fácil</a:t>
            </a:r>
            <a:r>
              <a:rPr lang="en-US"/>
              <a:t> y sin </a:t>
            </a:r>
            <a:r>
              <a:rPr lang="en-US" err="1"/>
              <a:t>necesitar</a:t>
            </a:r>
            <a:r>
              <a:rPr lang="en-US"/>
              <a:t> </a:t>
            </a:r>
            <a:r>
              <a:rPr lang="en-US" err="1"/>
              <a:t>demasiado</a:t>
            </a:r>
            <a:r>
              <a:rPr lang="en-US"/>
              <a:t> </a:t>
            </a:r>
            <a:r>
              <a:rPr lang="en-US" err="1"/>
              <a:t>tiempo</a:t>
            </a:r>
            <a:r>
              <a:rPr lang="en-US"/>
              <a:t>, </a:t>
            </a:r>
            <a:r>
              <a:rPr lang="en-US" err="1"/>
              <a:t>ya</a:t>
            </a:r>
            <a:r>
              <a:rPr lang="en-US"/>
              <a:t> que no </a:t>
            </a:r>
            <a:r>
              <a:rPr lang="en-US" err="1"/>
              <a:t>hace</a:t>
            </a:r>
            <a:r>
              <a:rPr lang="en-US"/>
              <a:t> </a:t>
            </a:r>
            <a:r>
              <a:rPr lang="en-US" err="1"/>
              <a:t>falta</a:t>
            </a:r>
            <a:r>
              <a:rPr lang="en-US"/>
              <a:t> que </a:t>
            </a:r>
            <a:r>
              <a:rPr lang="en-US" err="1"/>
              <a:t>el</a:t>
            </a:r>
            <a:r>
              <a:rPr lang="en-US"/>
              <a:t> </a:t>
            </a:r>
            <a:r>
              <a:rPr lang="en-US" err="1"/>
              <a:t>guía</a:t>
            </a:r>
            <a:r>
              <a:rPr lang="en-US"/>
              <a:t> </a:t>
            </a:r>
            <a:r>
              <a:rPr lang="en-US" err="1"/>
              <a:t>esté</a:t>
            </a:r>
            <a:r>
              <a:rPr lang="en-US"/>
              <a:t> </a:t>
            </a:r>
            <a:r>
              <a:rPr lang="en-US" err="1"/>
              <a:t>presente</a:t>
            </a:r>
            <a:r>
              <a:rPr lang="en-US"/>
              <a:t> </a:t>
            </a:r>
            <a:r>
              <a:rPr lang="en-US" err="1"/>
              <a:t>físicamente</a:t>
            </a:r>
            <a:r>
              <a:rPr lang="en-US"/>
              <a:t> </a:t>
            </a:r>
            <a:r>
              <a:rPr lang="en-US" err="1"/>
              <a:t>durante</a:t>
            </a:r>
            <a:r>
              <a:rPr lang="en-US"/>
              <a:t> </a:t>
            </a:r>
            <a:r>
              <a:rPr lang="en-US" err="1"/>
              <a:t>el</a:t>
            </a:r>
            <a:r>
              <a:rPr lang="en-US"/>
              <a:t> </a:t>
            </a:r>
            <a:r>
              <a:rPr lang="en-US" err="1"/>
              <a:t>viaje</a:t>
            </a:r>
            <a:r>
              <a:rPr lang="en-US"/>
              <a:t>.</a:t>
            </a:r>
            <a:br>
              <a:rPr lang="en-US">
                <a:cs typeface="+mn-lt"/>
              </a:rPr>
            </a:br>
            <a:r>
              <a:rPr lang="en-US"/>
              <a:t> Además, a </a:t>
            </a:r>
            <a:r>
              <a:rPr lang="en-US" err="1"/>
              <a:t>diferencia</a:t>
            </a:r>
            <a:r>
              <a:rPr lang="en-US"/>
              <a:t> de </a:t>
            </a:r>
            <a:r>
              <a:rPr lang="en-US" err="1"/>
              <a:t>otras</a:t>
            </a:r>
            <a:r>
              <a:rPr lang="en-US"/>
              <a:t> </a:t>
            </a:r>
            <a:r>
              <a:rPr lang="en-US" err="1"/>
              <a:t>aplicaciones</a:t>
            </a:r>
            <a:r>
              <a:rPr lang="en-US"/>
              <a:t> </a:t>
            </a:r>
            <a:r>
              <a:rPr lang="en-US" err="1"/>
              <a:t>como</a:t>
            </a:r>
            <a:r>
              <a:rPr lang="en-US"/>
              <a:t> </a:t>
            </a:r>
            <a:r>
              <a:rPr lang="en-US" err="1"/>
              <a:t>ShowAround</a:t>
            </a:r>
            <a:r>
              <a:rPr lang="en-US"/>
              <a:t>, </a:t>
            </a:r>
            <a:r>
              <a:rPr lang="en-US" err="1"/>
              <a:t>decidimos</a:t>
            </a:r>
            <a:r>
              <a:rPr lang="en-US"/>
              <a:t> </a:t>
            </a:r>
            <a:r>
              <a:rPr lang="en-US" err="1"/>
              <a:t>colocar</a:t>
            </a:r>
            <a:r>
              <a:rPr lang="en-US"/>
              <a:t> la </a:t>
            </a:r>
            <a:r>
              <a:rPr lang="en-US" err="1"/>
              <a:t>tarea</a:t>
            </a:r>
            <a:r>
              <a:rPr lang="en-US"/>
              <a:t> de </a:t>
            </a:r>
            <a:r>
              <a:rPr lang="en-US" err="1"/>
              <a:t>búsqueda</a:t>
            </a:r>
            <a:r>
              <a:rPr lang="en-US"/>
              <a:t> </a:t>
            </a:r>
            <a:r>
              <a:rPr lang="en-US" err="1"/>
              <a:t>dentro</a:t>
            </a:r>
            <a:r>
              <a:rPr lang="en-US"/>
              <a:t> de la app </a:t>
            </a:r>
            <a:r>
              <a:rPr lang="en-US" err="1"/>
              <a:t>sobre</a:t>
            </a:r>
            <a:r>
              <a:rPr lang="en-US"/>
              <a:t> </a:t>
            </a:r>
            <a:r>
              <a:rPr lang="en-US" err="1"/>
              <a:t>los</a:t>
            </a:r>
            <a:r>
              <a:rPr lang="en-US"/>
              <a:t> </a:t>
            </a:r>
            <a:r>
              <a:rPr lang="en-US" err="1"/>
              <a:t>guías</a:t>
            </a:r>
            <a:r>
              <a:rPr lang="en-US"/>
              <a:t>. De </a:t>
            </a:r>
            <a:r>
              <a:rPr lang="en-US" err="1"/>
              <a:t>hecho</a:t>
            </a:r>
            <a:r>
              <a:rPr lang="en-US"/>
              <a:t>, </a:t>
            </a:r>
            <a:r>
              <a:rPr lang="en-US" err="1"/>
              <a:t>los</a:t>
            </a:r>
            <a:r>
              <a:rPr lang="en-US"/>
              <a:t> </a:t>
            </a:r>
            <a:r>
              <a:rPr lang="en-US" err="1"/>
              <a:t>guías</a:t>
            </a:r>
            <a:r>
              <a:rPr lang="en-US"/>
              <a:t> </a:t>
            </a:r>
            <a:r>
              <a:rPr lang="en-US" err="1"/>
              <a:t>tienen</a:t>
            </a:r>
            <a:r>
              <a:rPr lang="en-US"/>
              <a:t> que </a:t>
            </a:r>
            <a:r>
              <a:rPr lang="en-US" err="1"/>
              <a:t>buscar</a:t>
            </a:r>
            <a:r>
              <a:rPr lang="en-US"/>
              <a:t> entre </a:t>
            </a:r>
            <a:r>
              <a:rPr lang="en-US" err="1"/>
              <a:t>los</a:t>
            </a:r>
            <a:r>
              <a:rPr lang="en-US"/>
              <a:t> </a:t>
            </a:r>
            <a:r>
              <a:rPr lang="en-US" err="1"/>
              <a:t>viajes</a:t>
            </a:r>
            <a:r>
              <a:rPr lang="en-US"/>
              <a:t> </a:t>
            </a:r>
            <a:r>
              <a:rPr lang="en-US" err="1"/>
              <a:t>subidos</a:t>
            </a:r>
            <a:r>
              <a:rPr lang="en-US"/>
              <a:t> </a:t>
            </a:r>
            <a:r>
              <a:rPr lang="en-US" err="1"/>
              <a:t>por</a:t>
            </a:r>
            <a:r>
              <a:rPr lang="en-US"/>
              <a:t> </a:t>
            </a:r>
            <a:r>
              <a:rPr lang="en-US" err="1"/>
              <a:t>los</a:t>
            </a:r>
            <a:r>
              <a:rPr lang="en-US"/>
              <a:t> </a:t>
            </a:r>
            <a:r>
              <a:rPr lang="en-US" err="1"/>
              <a:t>viajeros</a:t>
            </a:r>
            <a:r>
              <a:rPr lang="en-US"/>
              <a:t> y </a:t>
            </a:r>
            <a:r>
              <a:rPr lang="en-US" err="1"/>
              <a:t>contestarles</a:t>
            </a:r>
            <a:r>
              <a:rPr lang="en-US"/>
              <a:t>. Esta </a:t>
            </a:r>
            <a:r>
              <a:rPr lang="en-US" err="1"/>
              <a:t>manera</a:t>
            </a:r>
            <a:r>
              <a:rPr lang="en-US"/>
              <a:t> de </a:t>
            </a:r>
            <a:r>
              <a:rPr lang="en-US" err="1"/>
              <a:t>gestionar</a:t>
            </a:r>
            <a:r>
              <a:rPr lang="en-US"/>
              <a:t> la </a:t>
            </a:r>
            <a:r>
              <a:rPr lang="en-US" err="1"/>
              <a:t>interacción</a:t>
            </a:r>
            <a:r>
              <a:rPr lang="en-US"/>
              <a:t> </a:t>
            </a:r>
            <a:r>
              <a:rPr lang="en-US" err="1"/>
              <a:t>facilita</a:t>
            </a:r>
            <a:r>
              <a:rPr lang="en-US"/>
              <a:t> la </a:t>
            </a:r>
            <a:r>
              <a:rPr lang="en-US" err="1"/>
              <a:t>tarea</a:t>
            </a:r>
            <a:r>
              <a:rPr lang="en-US"/>
              <a:t> de </a:t>
            </a:r>
            <a:r>
              <a:rPr lang="en-US" err="1"/>
              <a:t>los</a:t>
            </a:r>
            <a:r>
              <a:rPr lang="en-US"/>
              <a:t> </a:t>
            </a:r>
            <a:r>
              <a:rPr lang="en-US" err="1"/>
              <a:t>viajeros</a:t>
            </a:r>
            <a:r>
              <a:rPr lang="en-US"/>
              <a:t> y anima </a:t>
            </a:r>
            <a:r>
              <a:rPr lang="en-US" err="1"/>
              <a:t>el</a:t>
            </a:r>
            <a:r>
              <a:rPr lang="en-US"/>
              <a:t> </a:t>
            </a:r>
            <a:r>
              <a:rPr lang="en-US" err="1"/>
              <a:t>uso</a:t>
            </a:r>
            <a:r>
              <a:rPr lang="en-US"/>
              <a:t> de la app.</a:t>
            </a:r>
          </a:p>
          <a:p>
            <a:br>
              <a:rPr lang="en-US"/>
            </a:br>
            <a:endParaRPr lang="en-US"/>
          </a:p>
        </p:txBody>
      </p:sp>
      <p:sp>
        <p:nvSpPr>
          <p:cNvPr id="4" name="Slide Number Placeholder 3"/>
          <p:cNvSpPr>
            <a:spLocks noGrp="1"/>
          </p:cNvSpPr>
          <p:nvPr>
            <p:ph type="sldNum" sz="quarter" idx="5"/>
          </p:nvPr>
        </p:nvSpPr>
        <p:spPr/>
        <p:txBody>
          <a:bodyPr/>
          <a:lstStyle/>
          <a:p>
            <a:fld id="{CFD91975-1EEC-4F78-BA83-7DAC2BC663F0}" type="slidenum">
              <a:rPr lang="en-GB"/>
              <a:t>7</a:t>
            </a:fld>
            <a:endParaRPr lang="en-GB"/>
          </a:p>
        </p:txBody>
      </p:sp>
    </p:spTree>
    <p:extLst>
      <p:ext uri="{BB962C8B-B14F-4D97-AF65-F5344CB8AC3E}">
        <p14:creationId xmlns:p14="http://schemas.microsoft.com/office/powerpoint/2010/main" val="4078008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Hay </a:t>
            </a:r>
            <a:r>
              <a:rPr lang="en-US" err="1"/>
              <a:t>algunas</a:t>
            </a:r>
            <a:r>
              <a:rPr lang="en-US"/>
              <a:t> </a:t>
            </a:r>
            <a:r>
              <a:rPr lang="en-US" err="1"/>
              <a:t>limitaciones</a:t>
            </a:r>
            <a:r>
              <a:rPr lang="en-US"/>
              <a:t> en la aplicación debidas a la cuestión de tiempo que teníamos para el desarrollo. En esta primera versión de la app aún no se proporciona un método de pago interno ni un sistema de chats para que los guías y los viajeros puedan comunicarse. Todo eso se delega a un sistema de chat externo instalado en el dispositivo.</a:t>
            </a:r>
          </a:p>
          <a:p>
            <a:br>
              <a:rPr lang="en-US"/>
            </a:br>
            <a:endParaRPr lang="en-US"/>
          </a:p>
        </p:txBody>
      </p:sp>
      <p:sp>
        <p:nvSpPr>
          <p:cNvPr id="4" name="Slide Number Placeholder 3"/>
          <p:cNvSpPr>
            <a:spLocks noGrp="1"/>
          </p:cNvSpPr>
          <p:nvPr>
            <p:ph type="sldNum" sz="quarter" idx="5"/>
          </p:nvPr>
        </p:nvSpPr>
        <p:spPr/>
        <p:txBody>
          <a:bodyPr/>
          <a:lstStyle/>
          <a:p>
            <a:fld id="{CFD91975-1EEC-4F78-BA83-7DAC2BC663F0}" type="slidenum">
              <a:rPr lang="en-GB"/>
              <a:t>8</a:t>
            </a:fld>
            <a:endParaRPr lang="en-GB"/>
          </a:p>
        </p:txBody>
      </p:sp>
    </p:spTree>
    <p:extLst>
      <p:ext uri="{BB962C8B-B14F-4D97-AF65-F5344CB8AC3E}">
        <p14:creationId xmlns:p14="http://schemas.microsoft.com/office/powerpoint/2010/main" val="51545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a:t>
            </a:r>
            <a:r>
              <a:rPr lang="en-US" err="1"/>
              <a:t>arquitectura</a:t>
            </a:r>
            <a:r>
              <a:rPr lang="en-US"/>
              <a:t> de la </a:t>
            </a:r>
            <a:r>
              <a:rPr lang="en-US" err="1"/>
              <a:t>aplicación</a:t>
            </a:r>
            <a:r>
              <a:rPr lang="en-US"/>
              <a:t> </a:t>
            </a:r>
            <a:r>
              <a:rPr lang="en-US" err="1"/>
              <a:t>sigue</a:t>
            </a:r>
            <a:r>
              <a:rPr lang="en-US"/>
              <a:t> las </a:t>
            </a:r>
            <a:r>
              <a:rPr lang="en-US" err="1"/>
              <a:t>líneas</a:t>
            </a:r>
            <a:r>
              <a:rPr lang="en-US"/>
              <a:t> </a:t>
            </a:r>
            <a:r>
              <a:rPr lang="en-US" err="1"/>
              <a:t>guía</a:t>
            </a:r>
            <a:r>
              <a:rPr lang="en-US"/>
              <a:t> de la clean architecture. En particular, se </a:t>
            </a:r>
            <a:r>
              <a:rPr lang="en-US" err="1"/>
              <a:t>han</a:t>
            </a:r>
            <a:r>
              <a:rPr lang="en-US"/>
              <a:t> </a:t>
            </a:r>
            <a:r>
              <a:rPr lang="en-US" err="1"/>
              <a:t>estructurado</a:t>
            </a:r>
            <a:r>
              <a:rPr lang="en-US"/>
              <a:t> </a:t>
            </a:r>
            <a:r>
              <a:rPr lang="en-US" err="1"/>
              <a:t>los</a:t>
            </a:r>
            <a:r>
              <a:rPr lang="en-US"/>
              <a:t> </a:t>
            </a:r>
            <a:r>
              <a:rPr lang="en-US" err="1"/>
              <a:t>componentes</a:t>
            </a:r>
            <a:r>
              <a:rPr lang="en-US"/>
              <a:t> y las </a:t>
            </a:r>
            <a:r>
              <a:rPr lang="en-US" err="1"/>
              <a:t>clases</a:t>
            </a:r>
            <a:r>
              <a:rPr lang="en-US"/>
              <a:t> </a:t>
            </a:r>
            <a:r>
              <a:rPr lang="en-US" err="1"/>
              <a:t>en</a:t>
            </a:r>
            <a:r>
              <a:rPr lang="en-US"/>
              <a:t> </a:t>
            </a:r>
            <a:r>
              <a:rPr lang="en-US" err="1"/>
              <a:t>tres</a:t>
            </a:r>
            <a:r>
              <a:rPr lang="en-US"/>
              <a:t> </a:t>
            </a:r>
            <a:r>
              <a:rPr lang="en-US" err="1"/>
              <a:t>capas</a:t>
            </a:r>
            <a:r>
              <a:rPr lang="en-US"/>
              <a:t> </a:t>
            </a:r>
            <a:r>
              <a:rPr lang="en-US" err="1"/>
              <a:t>fundamentales</a:t>
            </a:r>
            <a:r>
              <a:rPr lang="en-US"/>
              <a:t>. La </a:t>
            </a:r>
            <a:r>
              <a:rPr lang="en-US" err="1"/>
              <a:t>primera</a:t>
            </a:r>
            <a:r>
              <a:rPr lang="en-US"/>
              <a:t> es </a:t>
            </a:r>
            <a:r>
              <a:rPr lang="en-US" err="1"/>
              <a:t>el</a:t>
            </a:r>
            <a:r>
              <a:rPr lang="en-US"/>
              <a:t> </a:t>
            </a:r>
            <a:r>
              <a:rPr lang="en-US" err="1"/>
              <a:t>dominio</a:t>
            </a:r>
            <a:r>
              <a:rPr lang="en-US"/>
              <a:t> de la </a:t>
            </a:r>
            <a:r>
              <a:rPr lang="en-US" err="1"/>
              <a:t>aplicación</a:t>
            </a:r>
            <a:r>
              <a:rPr lang="en-US"/>
              <a:t>, que </a:t>
            </a:r>
            <a:r>
              <a:rPr lang="en-US" err="1"/>
              <a:t>contiene</a:t>
            </a:r>
            <a:r>
              <a:rPr lang="en-US"/>
              <a:t> </a:t>
            </a:r>
            <a:r>
              <a:rPr lang="en-US" err="1"/>
              <a:t>todas</a:t>
            </a:r>
            <a:r>
              <a:rPr lang="en-US"/>
              <a:t> las </a:t>
            </a:r>
            <a:r>
              <a:rPr lang="en-US" err="1"/>
              <a:t>clases</a:t>
            </a:r>
            <a:r>
              <a:rPr lang="en-US"/>
              <a:t> base que </a:t>
            </a:r>
            <a:r>
              <a:rPr lang="en-US" err="1"/>
              <a:t>representan</a:t>
            </a:r>
            <a:r>
              <a:rPr lang="en-US"/>
              <a:t> </a:t>
            </a:r>
            <a:r>
              <a:rPr lang="en-US" err="1"/>
              <a:t>los</a:t>
            </a:r>
            <a:r>
              <a:rPr lang="en-US"/>
              <a:t> </a:t>
            </a:r>
            <a:r>
              <a:rPr lang="en-US" err="1"/>
              <a:t>datos</a:t>
            </a:r>
            <a:r>
              <a:rPr lang="en-US"/>
              <a:t> </a:t>
            </a:r>
            <a:r>
              <a:rPr lang="en-US" err="1"/>
              <a:t>fundamentales</a:t>
            </a:r>
            <a:r>
              <a:rPr lang="en-US"/>
              <a:t> que se </a:t>
            </a:r>
            <a:r>
              <a:rPr lang="en-US" err="1"/>
              <a:t>gestionan</a:t>
            </a:r>
            <a:r>
              <a:rPr lang="en-US"/>
              <a:t> </a:t>
            </a:r>
            <a:r>
              <a:rPr lang="en-US" err="1"/>
              <a:t>en</a:t>
            </a:r>
            <a:r>
              <a:rPr lang="en-US"/>
              <a:t> </a:t>
            </a:r>
            <a:r>
              <a:rPr lang="en-US" err="1"/>
              <a:t>TravelBuddy</a:t>
            </a:r>
            <a:r>
              <a:rPr lang="en-US"/>
              <a:t>.</a:t>
            </a:r>
            <a:br>
              <a:rPr lang="en-US">
                <a:cs typeface="+mn-lt"/>
              </a:rPr>
            </a:br>
            <a:r>
              <a:rPr lang="en-US"/>
              <a:t> Luego, </a:t>
            </a:r>
            <a:r>
              <a:rPr lang="en-US" err="1"/>
              <a:t>en</a:t>
            </a:r>
            <a:r>
              <a:rPr lang="en-US"/>
              <a:t> la </a:t>
            </a:r>
            <a:r>
              <a:rPr lang="en-US" err="1"/>
              <a:t>capa</a:t>
            </a:r>
            <a:r>
              <a:rPr lang="en-US"/>
              <a:t> de </a:t>
            </a:r>
            <a:r>
              <a:rPr lang="en-US" err="1"/>
              <a:t>adaptadores</a:t>
            </a:r>
            <a:r>
              <a:rPr lang="en-US"/>
              <a:t> de </a:t>
            </a:r>
            <a:r>
              <a:rPr lang="en-US" err="1"/>
              <a:t>interfaz</a:t>
            </a:r>
            <a:r>
              <a:rPr lang="en-US"/>
              <a:t> (interface adapters) </a:t>
            </a:r>
            <a:r>
              <a:rPr lang="en-US" err="1"/>
              <a:t>está</a:t>
            </a:r>
            <a:r>
              <a:rPr lang="en-US"/>
              <a:t> la </a:t>
            </a:r>
            <a:r>
              <a:rPr lang="en-US" err="1"/>
              <a:t>gestión</a:t>
            </a:r>
            <a:r>
              <a:rPr lang="en-US"/>
              <a:t> de la </a:t>
            </a:r>
            <a:r>
              <a:rPr lang="en-US" err="1"/>
              <a:t>interfaz</a:t>
            </a:r>
            <a:r>
              <a:rPr lang="en-US"/>
              <a:t> </a:t>
            </a:r>
            <a:r>
              <a:rPr lang="en-US" err="1"/>
              <a:t>gráfica</a:t>
            </a:r>
            <a:r>
              <a:rPr lang="en-US"/>
              <a:t> </a:t>
            </a:r>
            <a:r>
              <a:rPr lang="en-US" err="1"/>
              <a:t>ofrecida</a:t>
            </a:r>
            <a:r>
              <a:rPr lang="en-US"/>
              <a:t> a </a:t>
            </a:r>
            <a:r>
              <a:rPr lang="en-US" err="1"/>
              <a:t>los</a:t>
            </a:r>
            <a:r>
              <a:rPr lang="en-US"/>
              <a:t> </a:t>
            </a:r>
            <a:r>
              <a:rPr lang="en-US" err="1"/>
              <a:t>usuarios</a:t>
            </a:r>
            <a:r>
              <a:rPr lang="en-US"/>
              <a:t> para </a:t>
            </a:r>
            <a:r>
              <a:rPr lang="en-US" err="1"/>
              <a:t>interactuar</a:t>
            </a:r>
            <a:r>
              <a:rPr lang="en-US"/>
              <a:t> con </a:t>
            </a:r>
            <a:r>
              <a:rPr lang="en-US" err="1"/>
              <a:t>el</a:t>
            </a:r>
            <a:r>
              <a:rPr lang="en-US"/>
              <a:t> </a:t>
            </a:r>
            <a:r>
              <a:rPr lang="en-US" err="1"/>
              <a:t>sistema</a:t>
            </a:r>
            <a:r>
              <a:rPr lang="en-US"/>
              <a:t>. Esta </a:t>
            </a:r>
            <a:r>
              <a:rPr lang="en-US" err="1"/>
              <a:t>capa</a:t>
            </a:r>
            <a:r>
              <a:rPr lang="en-US"/>
              <a:t> </a:t>
            </a:r>
            <a:r>
              <a:rPr lang="en-US" err="1"/>
              <a:t>sigue</a:t>
            </a:r>
            <a:r>
              <a:rPr lang="en-US"/>
              <a:t> </a:t>
            </a:r>
            <a:r>
              <a:rPr lang="en-US" err="1"/>
              <a:t>el</a:t>
            </a:r>
            <a:r>
              <a:rPr lang="en-US"/>
              <a:t> </a:t>
            </a:r>
            <a:r>
              <a:rPr lang="en-US" err="1"/>
              <a:t>patrón</a:t>
            </a:r>
            <a:r>
              <a:rPr lang="en-US"/>
              <a:t> MVVM, </a:t>
            </a:r>
            <a:r>
              <a:rPr lang="en-US" err="1"/>
              <a:t>entonces</a:t>
            </a:r>
            <a:r>
              <a:rPr lang="en-US"/>
              <a:t> </a:t>
            </a:r>
            <a:r>
              <a:rPr lang="en-US" err="1"/>
              <a:t>están</a:t>
            </a:r>
            <a:r>
              <a:rPr lang="en-US"/>
              <a:t> las </a:t>
            </a:r>
            <a:r>
              <a:rPr lang="en-US" err="1"/>
              <a:t>clases</a:t>
            </a:r>
            <a:r>
              <a:rPr lang="en-US"/>
              <a:t> </a:t>
            </a:r>
            <a:r>
              <a:rPr lang="en-US" err="1"/>
              <a:t>ViewModel</a:t>
            </a:r>
            <a:r>
              <a:rPr lang="en-US"/>
              <a:t> que </a:t>
            </a:r>
            <a:r>
              <a:rPr lang="en-US" err="1"/>
              <a:t>mantienen</a:t>
            </a:r>
            <a:r>
              <a:rPr lang="en-US"/>
              <a:t> </a:t>
            </a:r>
            <a:r>
              <a:rPr lang="en-US" err="1"/>
              <a:t>el</a:t>
            </a:r>
            <a:r>
              <a:rPr lang="en-US"/>
              <a:t> </a:t>
            </a:r>
            <a:r>
              <a:rPr lang="en-US" err="1"/>
              <a:t>estado</a:t>
            </a:r>
            <a:r>
              <a:rPr lang="en-US"/>
              <a:t> de la UI y que </a:t>
            </a:r>
            <a:r>
              <a:rPr lang="en-US" err="1"/>
              <a:t>interactúan</a:t>
            </a:r>
            <a:r>
              <a:rPr lang="en-US"/>
              <a:t> con las </a:t>
            </a:r>
            <a:r>
              <a:rPr lang="en-US" err="1"/>
              <a:t>clases</a:t>
            </a:r>
            <a:r>
              <a:rPr lang="en-US"/>
              <a:t> del </a:t>
            </a:r>
            <a:r>
              <a:rPr lang="en-US" err="1"/>
              <a:t>dominio</a:t>
            </a:r>
            <a:r>
              <a:rPr lang="en-US"/>
              <a:t> para manipular y </a:t>
            </a:r>
            <a:r>
              <a:rPr lang="en-US" err="1"/>
              <a:t>transferir</a:t>
            </a:r>
            <a:r>
              <a:rPr lang="en-US"/>
              <a:t> </a:t>
            </a:r>
            <a:r>
              <a:rPr lang="en-US" err="1"/>
              <a:t>datos</a:t>
            </a:r>
            <a:r>
              <a:rPr lang="en-US"/>
              <a:t>.</a:t>
            </a:r>
            <a:br>
              <a:rPr lang="en-US">
                <a:cs typeface="+mn-lt"/>
              </a:rPr>
            </a:br>
            <a:r>
              <a:rPr lang="en-US"/>
              <a:t> La </a:t>
            </a:r>
            <a:r>
              <a:rPr lang="en-US" err="1"/>
              <a:t>última</a:t>
            </a:r>
            <a:r>
              <a:rPr lang="en-US"/>
              <a:t> </a:t>
            </a:r>
            <a:r>
              <a:rPr lang="en-US" err="1"/>
              <a:t>capa</a:t>
            </a:r>
            <a:r>
              <a:rPr lang="en-US"/>
              <a:t> es la de </a:t>
            </a:r>
            <a:r>
              <a:rPr lang="en-US" err="1"/>
              <a:t>los</a:t>
            </a:r>
            <a:r>
              <a:rPr lang="en-US"/>
              <a:t> frameworks, que </a:t>
            </a:r>
            <a:r>
              <a:rPr lang="en-US" err="1"/>
              <a:t>permite</a:t>
            </a:r>
            <a:r>
              <a:rPr lang="en-US"/>
              <a:t> </a:t>
            </a:r>
            <a:r>
              <a:rPr lang="en-US" err="1"/>
              <a:t>integrar</a:t>
            </a:r>
            <a:r>
              <a:rPr lang="en-US"/>
              <a:t> </a:t>
            </a:r>
            <a:r>
              <a:rPr lang="en-US" err="1"/>
              <a:t>el</a:t>
            </a:r>
            <a:r>
              <a:rPr lang="en-US"/>
              <a:t> </a:t>
            </a:r>
            <a:r>
              <a:rPr lang="en-US" err="1"/>
              <a:t>sistema</a:t>
            </a:r>
            <a:r>
              <a:rPr lang="en-US"/>
              <a:t> con </a:t>
            </a:r>
            <a:r>
              <a:rPr lang="en-US" err="1"/>
              <a:t>componentes</a:t>
            </a:r>
            <a:r>
              <a:rPr lang="en-US"/>
              <a:t> </a:t>
            </a:r>
            <a:r>
              <a:rPr lang="en-US" err="1"/>
              <a:t>externos</a:t>
            </a:r>
            <a:r>
              <a:rPr lang="en-US"/>
              <a:t>. En particular, </a:t>
            </a:r>
            <a:r>
              <a:rPr lang="en-US" err="1"/>
              <a:t>en</a:t>
            </a:r>
            <a:r>
              <a:rPr lang="en-US"/>
              <a:t> </a:t>
            </a:r>
            <a:r>
              <a:rPr lang="en-US" err="1"/>
              <a:t>esta</a:t>
            </a:r>
            <a:r>
              <a:rPr lang="en-US"/>
              <a:t> </a:t>
            </a:r>
            <a:r>
              <a:rPr lang="en-US" err="1"/>
              <a:t>aplicación</a:t>
            </a:r>
            <a:r>
              <a:rPr lang="en-US"/>
              <a:t> se ha </a:t>
            </a:r>
            <a:r>
              <a:rPr lang="en-US" err="1"/>
              <a:t>diseñado</a:t>
            </a:r>
            <a:r>
              <a:rPr lang="en-US"/>
              <a:t> e </a:t>
            </a:r>
            <a:r>
              <a:rPr lang="en-US" err="1"/>
              <a:t>integrado</a:t>
            </a:r>
            <a:r>
              <a:rPr lang="en-US"/>
              <a:t> un backend con Firebase DataConnect. El </a:t>
            </a:r>
            <a:r>
              <a:rPr lang="en-US" err="1"/>
              <a:t>acceso</a:t>
            </a:r>
            <a:r>
              <a:rPr lang="en-US"/>
              <a:t> a </a:t>
            </a:r>
            <a:r>
              <a:rPr lang="en-US" err="1"/>
              <a:t>estos</a:t>
            </a:r>
            <a:r>
              <a:rPr lang="en-US"/>
              <a:t> frameworks </a:t>
            </a:r>
            <a:r>
              <a:rPr lang="en-US" err="1"/>
              <a:t>externos</a:t>
            </a:r>
            <a:r>
              <a:rPr lang="en-US"/>
              <a:t> se </a:t>
            </a:r>
            <a:r>
              <a:rPr lang="en-US" err="1"/>
              <a:t>gestiona</a:t>
            </a:r>
            <a:r>
              <a:rPr lang="en-US"/>
              <a:t> </a:t>
            </a:r>
            <a:r>
              <a:rPr lang="en-US" err="1"/>
              <a:t>por</a:t>
            </a:r>
            <a:r>
              <a:rPr lang="en-US"/>
              <a:t> medio de las </a:t>
            </a:r>
            <a:r>
              <a:rPr lang="en-US" err="1"/>
              <a:t>clases</a:t>
            </a:r>
            <a:r>
              <a:rPr lang="en-US"/>
              <a:t> Repository y </a:t>
            </a:r>
            <a:r>
              <a:rPr lang="en-US" err="1"/>
              <a:t>Datasources</a:t>
            </a:r>
            <a:r>
              <a:rPr lang="en-US"/>
              <a:t>.</a:t>
            </a:r>
          </a:p>
          <a:p>
            <a:br>
              <a:rPr lang="en-US"/>
            </a:br>
            <a:endParaRPr lang="en-US"/>
          </a:p>
        </p:txBody>
      </p:sp>
      <p:sp>
        <p:nvSpPr>
          <p:cNvPr id="4" name="Slide Number Placeholder 3"/>
          <p:cNvSpPr>
            <a:spLocks noGrp="1"/>
          </p:cNvSpPr>
          <p:nvPr>
            <p:ph type="sldNum" sz="quarter" idx="5"/>
          </p:nvPr>
        </p:nvSpPr>
        <p:spPr/>
        <p:txBody>
          <a:bodyPr/>
          <a:lstStyle/>
          <a:p>
            <a:fld id="{CFD91975-1EEC-4F78-BA83-7DAC2BC663F0}" type="slidenum">
              <a:rPr lang="en-GB"/>
              <a:t>14</a:t>
            </a:fld>
            <a:endParaRPr lang="en-GB"/>
          </a:p>
        </p:txBody>
      </p:sp>
    </p:spTree>
    <p:extLst>
      <p:ext uri="{BB962C8B-B14F-4D97-AF65-F5344CB8AC3E}">
        <p14:creationId xmlns:p14="http://schemas.microsoft.com/office/powerpoint/2010/main" val="2971410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E159A36-4230-4304-9537-175EC2E9D316}" type="slidenum">
              <a:rPr lang="en-GB" smtClean="0"/>
              <a:t>18</a:t>
            </a:fld>
            <a:endParaRPr lang="en-GB"/>
          </a:p>
        </p:txBody>
      </p:sp>
    </p:spTree>
    <p:extLst>
      <p:ext uri="{BB962C8B-B14F-4D97-AF65-F5344CB8AC3E}">
        <p14:creationId xmlns:p14="http://schemas.microsoft.com/office/powerpoint/2010/main" val="3677392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16D2F-E6EB-7988-E8C3-D28F56372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AE67F-E99A-37A7-E3FA-16C6278D1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17564-8F98-16E2-A7C1-82AABF788D99}"/>
              </a:ext>
            </a:extLst>
          </p:cNvPr>
          <p:cNvSpPr>
            <a:spLocks noGrp="1"/>
          </p:cNvSpPr>
          <p:nvPr>
            <p:ph type="body" idx="1"/>
          </p:nvPr>
        </p:nvSpPr>
        <p:spPr/>
        <p:txBody>
          <a:bodyPr/>
          <a:lstStyle/>
          <a:p>
            <a:r>
              <a:rPr lang="en-GB" err="1"/>
              <a:t>Aquí</a:t>
            </a:r>
            <a:r>
              <a:rPr lang="en-GB"/>
              <a:t> </a:t>
            </a:r>
            <a:r>
              <a:rPr lang="en-GB" err="1"/>
              <a:t>podemos</a:t>
            </a:r>
            <a:r>
              <a:rPr lang="en-GB"/>
              <a:t> </a:t>
            </a:r>
            <a:r>
              <a:rPr lang="en-GB" err="1"/>
              <a:t>ver</a:t>
            </a:r>
            <a:r>
              <a:rPr lang="en-GB"/>
              <a:t> </a:t>
            </a:r>
            <a:r>
              <a:rPr lang="en-GB" err="1"/>
              <a:t>una</a:t>
            </a:r>
            <a:r>
              <a:rPr lang="en-GB"/>
              <a:t> </a:t>
            </a:r>
            <a:r>
              <a:rPr lang="en-GB" err="1"/>
              <a:t>visión</a:t>
            </a:r>
            <a:r>
              <a:rPr lang="en-GB"/>
              <a:t> </a:t>
            </a:r>
            <a:r>
              <a:rPr lang="en-GB" err="1"/>
              <a:t>estática</a:t>
            </a:r>
            <a:r>
              <a:rPr lang="en-GB"/>
              <a:t> de alto </a:t>
            </a:r>
            <a:r>
              <a:rPr lang="en-GB" err="1"/>
              <a:t>nivel</a:t>
            </a:r>
            <a:r>
              <a:rPr lang="en-GB"/>
              <a:t> de </a:t>
            </a:r>
            <a:r>
              <a:rPr lang="en-GB" err="1"/>
              <a:t>los</a:t>
            </a:r>
            <a:r>
              <a:rPr lang="en-GB"/>
              <a:t> </a:t>
            </a:r>
            <a:r>
              <a:rPr lang="en-GB" err="1"/>
              <a:t>componentes</a:t>
            </a:r>
            <a:r>
              <a:rPr lang="en-GB"/>
              <a:t> </a:t>
            </a:r>
            <a:r>
              <a:rPr lang="en-GB" err="1"/>
              <a:t>principales</a:t>
            </a:r>
            <a:r>
              <a:rPr lang="en-GB"/>
              <a:t> de la </a:t>
            </a:r>
            <a:r>
              <a:rPr lang="en-GB" err="1"/>
              <a:t>aplicación</a:t>
            </a:r>
            <a:r>
              <a:rPr lang="en-GB"/>
              <a:t>. Se </a:t>
            </a:r>
            <a:r>
              <a:rPr lang="en-GB" err="1"/>
              <a:t>empieza</a:t>
            </a:r>
            <a:r>
              <a:rPr lang="en-GB"/>
              <a:t> con </a:t>
            </a:r>
            <a:r>
              <a:rPr lang="en-GB" err="1"/>
              <a:t>el</a:t>
            </a:r>
            <a:r>
              <a:rPr lang="en-GB"/>
              <a:t> frontend, que </a:t>
            </a:r>
            <a:r>
              <a:rPr lang="en-GB" err="1"/>
              <a:t>contiene</a:t>
            </a:r>
            <a:r>
              <a:rPr lang="en-GB"/>
              <a:t> </a:t>
            </a:r>
            <a:r>
              <a:rPr lang="en-GB" err="1"/>
              <a:t>todas</a:t>
            </a:r>
            <a:r>
              <a:rPr lang="en-GB"/>
              <a:t> las </a:t>
            </a:r>
            <a:r>
              <a:rPr lang="en-GB" err="1"/>
              <a:t>clases</a:t>
            </a:r>
            <a:r>
              <a:rPr lang="en-GB"/>
              <a:t> y </a:t>
            </a:r>
            <a:r>
              <a:rPr lang="en-GB" err="1"/>
              <a:t>componentes</a:t>
            </a:r>
            <a:r>
              <a:rPr lang="en-GB"/>
              <a:t> que </a:t>
            </a:r>
            <a:r>
              <a:rPr lang="en-GB" err="1"/>
              <a:t>permiten</a:t>
            </a:r>
            <a:r>
              <a:rPr lang="en-GB"/>
              <a:t> al </a:t>
            </a:r>
            <a:r>
              <a:rPr lang="en-GB" err="1"/>
              <a:t>usuario</a:t>
            </a:r>
            <a:r>
              <a:rPr lang="en-GB"/>
              <a:t> </a:t>
            </a:r>
            <a:r>
              <a:rPr lang="en-GB" err="1"/>
              <a:t>interactuar</a:t>
            </a:r>
            <a:r>
              <a:rPr lang="en-GB"/>
              <a:t> con la </a:t>
            </a:r>
            <a:r>
              <a:rPr lang="en-GB" err="1"/>
              <a:t>aplicación</a:t>
            </a:r>
            <a:r>
              <a:rPr lang="en-GB"/>
              <a:t>.</a:t>
            </a:r>
            <a:br>
              <a:rPr lang="en-GB">
                <a:cs typeface="+mn-lt"/>
              </a:rPr>
            </a:br>
            <a:r>
              <a:rPr lang="en-GB"/>
              <a:t> A </a:t>
            </a:r>
            <a:r>
              <a:rPr lang="en-GB" err="1"/>
              <a:t>través</a:t>
            </a:r>
            <a:r>
              <a:rPr lang="en-GB"/>
              <a:t> de la red, </a:t>
            </a:r>
            <a:r>
              <a:rPr lang="en-GB" err="1"/>
              <a:t>TravelBuddy</a:t>
            </a:r>
            <a:r>
              <a:rPr lang="en-GB"/>
              <a:t> se </a:t>
            </a:r>
            <a:r>
              <a:rPr lang="en-GB" err="1"/>
              <a:t>conecta</a:t>
            </a:r>
            <a:r>
              <a:rPr lang="en-GB"/>
              <a:t> con </a:t>
            </a:r>
            <a:r>
              <a:rPr lang="en-GB" err="1"/>
              <a:t>el</a:t>
            </a:r>
            <a:r>
              <a:rPr lang="en-GB"/>
              <a:t> backend, que </a:t>
            </a:r>
            <a:r>
              <a:rPr lang="en-GB" err="1"/>
              <a:t>está</a:t>
            </a:r>
            <a:r>
              <a:rPr lang="en-GB"/>
              <a:t> </a:t>
            </a:r>
            <a:r>
              <a:rPr lang="en-GB" err="1"/>
              <a:t>desarrollado</a:t>
            </a:r>
            <a:r>
              <a:rPr lang="en-GB"/>
              <a:t> </a:t>
            </a:r>
            <a:r>
              <a:rPr lang="en-GB" err="1"/>
              <a:t>en</a:t>
            </a:r>
            <a:r>
              <a:rPr lang="en-GB"/>
              <a:t> Firebase DataConnect. DataConnect </a:t>
            </a:r>
            <a:r>
              <a:rPr lang="en-GB" err="1"/>
              <a:t>permite</a:t>
            </a:r>
            <a:r>
              <a:rPr lang="en-GB"/>
              <a:t> </a:t>
            </a:r>
            <a:r>
              <a:rPr lang="en-GB" err="1"/>
              <a:t>definir</a:t>
            </a:r>
            <a:r>
              <a:rPr lang="en-GB"/>
              <a:t> al </a:t>
            </a:r>
            <a:r>
              <a:rPr lang="en-GB" err="1"/>
              <a:t>mismo</a:t>
            </a:r>
            <a:r>
              <a:rPr lang="en-GB"/>
              <a:t> </a:t>
            </a:r>
            <a:r>
              <a:rPr lang="en-GB" err="1"/>
              <a:t>tiempo</a:t>
            </a:r>
            <a:r>
              <a:rPr lang="en-GB"/>
              <a:t> </a:t>
            </a:r>
            <a:r>
              <a:rPr lang="en-GB" err="1"/>
              <a:t>el</a:t>
            </a:r>
            <a:r>
              <a:rPr lang="en-GB"/>
              <a:t> </a:t>
            </a:r>
            <a:r>
              <a:rPr lang="en-GB" err="1"/>
              <a:t>diseño</a:t>
            </a:r>
            <a:r>
              <a:rPr lang="en-GB"/>
              <a:t> de la base de </a:t>
            </a:r>
            <a:r>
              <a:rPr lang="en-GB" err="1"/>
              <a:t>datos</a:t>
            </a:r>
            <a:r>
              <a:rPr lang="en-GB"/>
              <a:t> y también de la </a:t>
            </a:r>
            <a:r>
              <a:rPr lang="en-GB" err="1"/>
              <a:t>interfaz</a:t>
            </a:r>
            <a:r>
              <a:rPr lang="en-GB"/>
              <a:t> con la que </a:t>
            </a:r>
            <a:r>
              <a:rPr lang="en-GB" err="1"/>
              <a:t>los</a:t>
            </a:r>
            <a:r>
              <a:rPr lang="en-GB"/>
              <a:t> </a:t>
            </a:r>
            <a:r>
              <a:rPr lang="en-GB" err="1"/>
              <a:t>datos</a:t>
            </a:r>
            <a:r>
              <a:rPr lang="en-GB"/>
              <a:t> se </a:t>
            </a:r>
            <a:r>
              <a:rPr lang="en-GB" err="1"/>
              <a:t>exponen</a:t>
            </a:r>
            <a:r>
              <a:rPr lang="en-GB"/>
              <a:t> a </a:t>
            </a:r>
            <a:r>
              <a:rPr lang="en-GB" err="1"/>
              <a:t>través</a:t>
            </a:r>
            <a:r>
              <a:rPr lang="en-GB"/>
              <a:t> de </a:t>
            </a:r>
            <a:r>
              <a:rPr lang="en-GB" err="1"/>
              <a:t>GraphQL</a:t>
            </a:r>
            <a:r>
              <a:rPr lang="en-GB"/>
              <a:t>. Este es un </a:t>
            </a:r>
            <a:r>
              <a:rPr lang="en-GB" err="1"/>
              <a:t>lenguaje</a:t>
            </a:r>
            <a:r>
              <a:rPr lang="en-GB"/>
              <a:t> alternativo a la </a:t>
            </a:r>
            <a:r>
              <a:rPr lang="en-GB" err="1"/>
              <a:t>clásica</a:t>
            </a:r>
            <a:r>
              <a:rPr lang="en-GB"/>
              <a:t> REST API y </a:t>
            </a:r>
            <a:r>
              <a:rPr lang="en-GB" err="1"/>
              <a:t>permite</a:t>
            </a:r>
            <a:r>
              <a:rPr lang="en-GB"/>
              <a:t> la </a:t>
            </a:r>
            <a:r>
              <a:rPr lang="en-GB" err="1"/>
              <a:t>recogida</a:t>
            </a:r>
            <a:r>
              <a:rPr lang="en-GB"/>
              <a:t> de </a:t>
            </a:r>
            <a:r>
              <a:rPr lang="en-GB" err="1"/>
              <a:t>datos</a:t>
            </a:r>
            <a:r>
              <a:rPr lang="en-GB"/>
              <a:t> de </a:t>
            </a:r>
            <a:r>
              <a:rPr lang="en-GB" err="1"/>
              <a:t>manera</a:t>
            </a:r>
            <a:r>
              <a:rPr lang="en-GB"/>
              <a:t> </a:t>
            </a:r>
            <a:r>
              <a:rPr lang="en-GB" err="1"/>
              <a:t>más</a:t>
            </a:r>
            <a:r>
              <a:rPr lang="en-GB"/>
              <a:t> </a:t>
            </a:r>
            <a:r>
              <a:rPr lang="en-GB" err="1"/>
              <a:t>precisa</a:t>
            </a:r>
            <a:r>
              <a:rPr lang="en-GB"/>
              <a:t>. Firebase DataConnect </a:t>
            </a:r>
            <a:r>
              <a:rPr lang="en-GB" err="1"/>
              <a:t>interactúa</a:t>
            </a:r>
            <a:r>
              <a:rPr lang="en-GB"/>
              <a:t> </a:t>
            </a:r>
            <a:r>
              <a:rPr lang="en-GB" err="1"/>
              <a:t>internamente</a:t>
            </a:r>
            <a:r>
              <a:rPr lang="en-GB"/>
              <a:t> con </a:t>
            </a:r>
            <a:r>
              <a:rPr lang="en-GB" err="1"/>
              <a:t>una</a:t>
            </a:r>
            <a:r>
              <a:rPr lang="en-GB"/>
              <a:t> </a:t>
            </a:r>
            <a:r>
              <a:rPr lang="en-GB" err="1"/>
              <a:t>instancia</a:t>
            </a:r>
            <a:r>
              <a:rPr lang="en-GB"/>
              <a:t> de PostgreSQL, que es la base de </a:t>
            </a:r>
            <a:r>
              <a:rPr lang="en-GB" err="1"/>
              <a:t>datos</a:t>
            </a:r>
            <a:r>
              <a:rPr lang="en-GB"/>
              <a:t> </a:t>
            </a:r>
            <a:r>
              <a:rPr lang="en-GB" err="1"/>
              <a:t>física</a:t>
            </a:r>
            <a:r>
              <a:rPr lang="en-GB"/>
              <a:t> que </a:t>
            </a:r>
            <a:r>
              <a:rPr lang="en-GB" err="1"/>
              <a:t>almacena</a:t>
            </a:r>
            <a:r>
              <a:rPr lang="en-GB"/>
              <a:t> </a:t>
            </a:r>
            <a:r>
              <a:rPr lang="en-GB" err="1"/>
              <a:t>los</a:t>
            </a:r>
            <a:r>
              <a:rPr lang="en-GB"/>
              <a:t> </a:t>
            </a:r>
            <a:r>
              <a:rPr lang="en-GB" err="1"/>
              <a:t>datos</a:t>
            </a:r>
            <a:r>
              <a:rPr lang="en-GB"/>
              <a:t> de la </a:t>
            </a:r>
            <a:r>
              <a:rPr lang="en-GB" err="1"/>
              <a:t>aplicación</a:t>
            </a:r>
            <a:r>
              <a:rPr lang="en-GB"/>
              <a:t>.</a:t>
            </a:r>
            <a:endParaRPr lang="en-US"/>
          </a:p>
          <a:p>
            <a:br>
              <a:rPr lang="en-US"/>
            </a:br>
            <a:endParaRPr lang="en-US"/>
          </a:p>
        </p:txBody>
      </p:sp>
      <p:sp>
        <p:nvSpPr>
          <p:cNvPr id="4" name="Slide Number Placeholder 3">
            <a:extLst>
              <a:ext uri="{FF2B5EF4-FFF2-40B4-BE49-F238E27FC236}">
                <a16:creationId xmlns:a16="http://schemas.microsoft.com/office/drawing/2014/main" id="{116DEE1B-4477-EB28-E56D-E6EC8E8BFADB}"/>
              </a:ext>
            </a:extLst>
          </p:cNvPr>
          <p:cNvSpPr>
            <a:spLocks noGrp="1"/>
          </p:cNvSpPr>
          <p:nvPr>
            <p:ph type="sldNum" sz="quarter" idx="5"/>
          </p:nvPr>
        </p:nvSpPr>
        <p:spPr/>
        <p:txBody>
          <a:bodyPr/>
          <a:lstStyle/>
          <a:p>
            <a:fld id="{BE159A36-4230-4304-9537-175EC2E9D316}" type="slidenum">
              <a:rPr lang="en-GB" smtClean="0"/>
              <a:t>19</a:t>
            </a:fld>
            <a:endParaRPr lang="en-GB"/>
          </a:p>
        </p:txBody>
      </p:sp>
    </p:spTree>
    <p:extLst>
      <p:ext uri="{BB962C8B-B14F-4D97-AF65-F5344CB8AC3E}">
        <p14:creationId xmlns:p14="http://schemas.microsoft.com/office/powerpoint/2010/main" val="3260294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CDBA-94FF-274B-41B3-D7BA850CA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461C5-B79E-5436-6804-B8B087991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24FFF-6F18-2588-905C-CBBCDE9A1F7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064AA97-C177-8AA2-20D0-DE365B58ED19}"/>
              </a:ext>
            </a:extLst>
          </p:cNvPr>
          <p:cNvSpPr>
            <a:spLocks noGrp="1"/>
          </p:cNvSpPr>
          <p:nvPr>
            <p:ph type="sldNum" sz="quarter" idx="5"/>
          </p:nvPr>
        </p:nvSpPr>
        <p:spPr/>
        <p:txBody>
          <a:bodyPr/>
          <a:lstStyle/>
          <a:p>
            <a:fld id="{BE159A36-4230-4304-9537-175EC2E9D316}" type="slidenum">
              <a:rPr lang="en-GB" smtClean="0"/>
              <a:t>20</a:t>
            </a:fld>
            <a:endParaRPr lang="en-GB"/>
          </a:p>
        </p:txBody>
      </p:sp>
    </p:spTree>
    <p:extLst>
      <p:ext uri="{BB962C8B-B14F-4D97-AF65-F5344CB8AC3E}">
        <p14:creationId xmlns:p14="http://schemas.microsoft.com/office/powerpoint/2010/main" val="818849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Finalmente</a:t>
            </a:r>
            <a:r>
              <a:rPr lang="en-US"/>
              <a:t>, </a:t>
            </a:r>
            <a:r>
              <a:rPr lang="en-US" err="1"/>
              <a:t>podemos</a:t>
            </a:r>
            <a:r>
              <a:rPr lang="en-US"/>
              <a:t> </a:t>
            </a:r>
            <a:r>
              <a:rPr lang="en-US" err="1"/>
              <a:t>ver</a:t>
            </a:r>
            <a:r>
              <a:rPr lang="en-US"/>
              <a:t> una perspectiva dinámica de cómo los componentes interactúan durante el tiempo de ejecución para conectarse al backend. Todo empieza con las interacciones del usuario con el frontend. El frontend delega todas las operaciones al ViewModel, que a su vez pasa a través de las clases Repository y Datasources para conectarse con el backend. Los Datasources usan las clases connector que se autogeneran en DataConnect para pedir datos al backend.</a:t>
            </a:r>
          </a:p>
          <a:p>
            <a:br>
              <a:rPr lang="en-US"/>
            </a:br>
            <a:endParaRPr lang="en-US"/>
          </a:p>
        </p:txBody>
      </p:sp>
      <p:sp>
        <p:nvSpPr>
          <p:cNvPr id="4" name="Slide Number Placeholder 3"/>
          <p:cNvSpPr>
            <a:spLocks noGrp="1"/>
          </p:cNvSpPr>
          <p:nvPr>
            <p:ph type="sldNum" sz="quarter" idx="5"/>
          </p:nvPr>
        </p:nvSpPr>
        <p:spPr/>
        <p:txBody>
          <a:bodyPr/>
          <a:lstStyle/>
          <a:p>
            <a:fld id="{CFD91975-1EEC-4F78-BA83-7DAC2BC663F0}" type="slidenum">
              <a:rPr lang="en-GB"/>
              <a:t>21</a:t>
            </a:fld>
            <a:endParaRPr lang="en-GB"/>
          </a:p>
        </p:txBody>
      </p:sp>
    </p:spTree>
    <p:extLst>
      <p:ext uri="{BB962C8B-B14F-4D97-AF65-F5344CB8AC3E}">
        <p14:creationId xmlns:p14="http://schemas.microsoft.com/office/powerpoint/2010/main" val="1561633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8336E2-78C6-3BE0-4888-071F0D9B56CA}"/>
              </a:ext>
            </a:extLst>
          </p:cNvPr>
          <p:cNvSpPr/>
          <p:nvPr/>
        </p:nvSpPr>
        <p:spPr>
          <a:xfrm rot="2520000">
            <a:off x="6658747" y="-945698"/>
            <a:ext cx="9172037" cy="3491674"/>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371556A9-B9BC-9B4D-4DD5-BAA69078D3A3}"/>
              </a:ext>
            </a:extLst>
          </p:cNvPr>
          <p:cNvSpPr/>
          <p:nvPr/>
        </p:nvSpPr>
        <p:spPr>
          <a:xfrm rot="2520000">
            <a:off x="7252512" y="-1232685"/>
            <a:ext cx="9172037" cy="3491674"/>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57B45F3C-AA10-6334-1830-E60EDC4A5E4B}"/>
              </a:ext>
            </a:extLst>
          </p:cNvPr>
          <p:cNvSpPr/>
          <p:nvPr/>
        </p:nvSpPr>
        <p:spPr>
          <a:xfrm rot="2520000">
            <a:off x="8915564" y="-1551214"/>
            <a:ext cx="5997038" cy="3038103"/>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443F55D4-30AE-CDFD-282F-BDA8E2100F2A}"/>
              </a:ext>
            </a:extLst>
          </p:cNvPr>
          <p:cNvSpPr txBox="1"/>
          <p:nvPr/>
        </p:nvSpPr>
        <p:spPr>
          <a:xfrm>
            <a:off x="807735" y="1902785"/>
            <a:ext cx="7991290" cy="1200329"/>
          </a:xfrm>
          <a:prstGeom prst="rect">
            <a:avLst/>
          </a:prstGeom>
          <a:noFill/>
        </p:spPr>
        <p:txBody>
          <a:bodyPr wrap="none" rtlCol="0">
            <a:spAutoFit/>
          </a:bodyPr>
          <a:lstStyle/>
          <a:p>
            <a:r>
              <a:rPr lang="en-GB" sz="7200" b="1" err="1">
                <a:solidFill>
                  <a:schemeClr val="accent1"/>
                </a:solidFill>
                <a:latin typeface="+mj-lt"/>
                <a:cs typeface="Aharoni" panose="02010803020104030203" pitchFamily="2" charset="-79"/>
              </a:rPr>
              <a:t>TravelBuddy</a:t>
            </a:r>
            <a:r>
              <a:rPr lang="en-GB" sz="7200" b="1">
                <a:solidFill>
                  <a:schemeClr val="accent1"/>
                </a:solidFill>
                <a:latin typeface="+mj-lt"/>
                <a:cs typeface="Aharoni" panose="02010803020104030203" pitchFamily="2" charset="-79"/>
              </a:rPr>
              <a:t> Project</a:t>
            </a:r>
          </a:p>
        </p:txBody>
      </p:sp>
      <p:cxnSp>
        <p:nvCxnSpPr>
          <p:cNvPr id="8" name="Straight Connector 7">
            <a:extLst>
              <a:ext uri="{FF2B5EF4-FFF2-40B4-BE49-F238E27FC236}">
                <a16:creationId xmlns:a16="http://schemas.microsoft.com/office/drawing/2014/main" id="{00885EEE-56FE-9F96-1D45-951E1483AC1E}"/>
              </a:ext>
            </a:extLst>
          </p:cNvPr>
          <p:cNvCxnSpPr>
            <a:cxnSpLocks/>
          </p:cNvCxnSpPr>
          <p:nvPr/>
        </p:nvCxnSpPr>
        <p:spPr>
          <a:xfrm>
            <a:off x="2592728" y="3230436"/>
            <a:ext cx="7824486" cy="0"/>
          </a:xfrm>
          <a:prstGeom prst="line">
            <a:avLst/>
          </a:prstGeom>
          <a:ln w="762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D9CF05A-A4FC-C07F-53BC-20AC8D63ED46}"/>
              </a:ext>
            </a:extLst>
          </p:cNvPr>
          <p:cNvSpPr txBox="1"/>
          <p:nvPr/>
        </p:nvSpPr>
        <p:spPr>
          <a:xfrm>
            <a:off x="2592728" y="3429000"/>
            <a:ext cx="8543429" cy="461665"/>
          </a:xfrm>
          <a:prstGeom prst="rect">
            <a:avLst/>
          </a:prstGeom>
          <a:noFill/>
        </p:spPr>
        <p:txBody>
          <a:bodyPr wrap="none" rtlCol="0">
            <a:spAutoFit/>
          </a:bodyPr>
          <a:lstStyle/>
          <a:p>
            <a:r>
              <a:rPr lang="es-ES" sz="2400" b="1">
                <a:solidFill>
                  <a:schemeClr val="accent1"/>
                </a:solidFill>
              </a:rPr>
              <a:t>Ahorra tiempo en tu próximo viaje y descubre gemas locales</a:t>
            </a:r>
            <a:endParaRPr lang="en-GB" sz="2400" b="1">
              <a:solidFill>
                <a:schemeClr val="accent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DE4C-8C84-4875-F132-396B8487671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2FD881B-5A33-164D-E924-97F985B55BB6}"/>
              </a:ext>
            </a:extLst>
          </p:cNvPr>
          <p:cNvSpPr/>
          <p:nvPr/>
        </p:nvSpPr>
        <p:spPr>
          <a:xfrm rot="5400000">
            <a:off x="7328065" y="1370782"/>
            <a:ext cx="9172037" cy="3491674"/>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83CB4A70-4FB3-D7B4-DE27-3AEA080607B2}"/>
              </a:ext>
            </a:extLst>
          </p:cNvPr>
          <p:cNvSpPr/>
          <p:nvPr/>
        </p:nvSpPr>
        <p:spPr>
          <a:xfrm rot="5400000">
            <a:off x="7846873" y="1220520"/>
            <a:ext cx="9172037" cy="3491674"/>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59B36AB4-8793-4D82-8D45-176344C1D797}"/>
              </a:ext>
            </a:extLst>
          </p:cNvPr>
          <p:cNvSpPr/>
          <p:nvPr/>
        </p:nvSpPr>
        <p:spPr>
          <a:xfrm rot="5400000">
            <a:off x="8680807" y="1343705"/>
            <a:ext cx="8771576" cy="3645770"/>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50AFE3DE-66A5-128E-C10A-1181BD4B1895}"/>
              </a:ext>
            </a:extLst>
          </p:cNvPr>
          <p:cNvSpPr txBox="1"/>
          <p:nvPr/>
        </p:nvSpPr>
        <p:spPr>
          <a:xfrm>
            <a:off x="2006507" y="2612592"/>
            <a:ext cx="7013202" cy="1107996"/>
          </a:xfrm>
          <a:prstGeom prst="rect">
            <a:avLst/>
          </a:prstGeom>
          <a:noFill/>
        </p:spPr>
        <p:txBody>
          <a:bodyPr wrap="none" rtlCol="0">
            <a:spAutoFit/>
          </a:bodyPr>
          <a:lstStyle/>
          <a:p>
            <a:r>
              <a:rPr lang="en-GB" sz="6600" b="1" err="1">
                <a:solidFill>
                  <a:schemeClr val="accent1"/>
                </a:solidFill>
                <a:latin typeface="+mj-lt"/>
                <a:cs typeface="Aharoni" panose="02010803020104030203" pitchFamily="2" charset="-79"/>
              </a:rPr>
              <a:t>Objetivos</a:t>
            </a:r>
            <a:r>
              <a:rPr lang="en-GB" sz="6600" b="1">
                <a:solidFill>
                  <a:schemeClr val="accent1"/>
                </a:solidFill>
                <a:latin typeface="+mj-lt"/>
                <a:cs typeface="Aharoni" panose="02010803020104030203" pitchFamily="2" charset="-79"/>
              </a:rPr>
              <a:t> de la app</a:t>
            </a:r>
          </a:p>
        </p:txBody>
      </p:sp>
    </p:spTree>
    <p:extLst>
      <p:ext uri="{BB962C8B-B14F-4D97-AF65-F5344CB8AC3E}">
        <p14:creationId xmlns:p14="http://schemas.microsoft.com/office/powerpoint/2010/main" val="5368380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0348A-C3D0-03F1-89F7-302169071F3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3EDC7EA-41DD-C0C0-3DFE-21B3E9E70F77}"/>
              </a:ext>
            </a:extLst>
          </p:cNvPr>
          <p:cNvSpPr/>
          <p:nvPr/>
        </p:nvSpPr>
        <p:spPr>
          <a:xfrm rot="5400000">
            <a:off x="2371263" y="-3586018"/>
            <a:ext cx="9172037" cy="13405278"/>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285D7EFA-6DEB-3287-E538-ABBA7FB61CC1}"/>
              </a:ext>
            </a:extLst>
          </p:cNvPr>
          <p:cNvSpPr/>
          <p:nvPr/>
        </p:nvSpPr>
        <p:spPr>
          <a:xfrm rot="5400000">
            <a:off x="7846873" y="1220520"/>
            <a:ext cx="9172037" cy="3491674"/>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4FDE3FA2-DAFB-3151-CC23-C66BFE76F234}"/>
              </a:ext>
            </a:extLst>
          </p:cNvPr>
          <p:cNvSpPr/>
          <p:nvPr/>
        </p:nvSpPr>
        <p:spPr>
          <a:xfrm rot="5400000">
            <a:off x="8680807" y="1343705"/>
            <a:ext cx="8771576" cy="3645770"/>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452D876A-FA19-595C-8242-0E0ED401D66D}"/>
              </a:ext>
            </a:extLst>
          </p:cNvPr>
          <p:cNvSpPr txBox="1"/>
          <p:nvPr/>
        </p:nvSpPr>
        <p:spPr>
          <a:xfrm>
            <a:off x="1351044" y="351778"/>
            <a:ext cx="8106450" cy="1107996"/>
          </a:xfrm>
          <a:prstGeom prst="rect">
            <a:avLst/>
          </a:prstGeom>
          <a:noFill/>
        </p:spPr>
        <p:txBody>
          <a:bodyPr wrap="none" rtlCol="0">
            <a:spAutoFit/>
          </a:bodyPr>
          <a:lstStyle/>
          <a:p>
            <a:r>
              <a:rPr lang="en-GB" sz="6600" b="1" err="1">
                <a:solidFill>
                  <a:schemeClr val="accent1"/>
                </a:solidFill>
                <a:latin typeface="+mj-lt"/>
                <a:cs typeface="Aharoni" panose="02010803020104030203" pitchFamily="2" charset="-79"/>
              </a:rPr>
              <a:t>Objetivos</a:t>
            </a:r>
            <a:r>
              <a:rPr lang="en-GB" sz="6600" b="1">
                <a:solidFill>
                  <a:schemeClr val="accent1"/>
                </a:solidFill>
                <a:latin typeface="+mj-lt"/>
                <a:cs typeface="Aharoni" panose="02010803020104030203" pitchFamily="2" charset="-79"/>
              </a:rPr>
              <a:t> de la app - 1</a:t>
            </a:r>
          </a:p>
        </p:txBody>
      </p:sp>
      <p:sp>
        <p:nvSpPr>
          <p:cNvPr id="3" name="TextBox 2">
            <a:extLst>
              <a:ext uri="{FF2B5EF4-FFF2-40B4-BE49-F238E27FC236}">
                <a16:creationId xmlns:a16="http://schemas.microsoft.com/office/drawing/2014/main" id="{E7AF2A30-C671-5C59-6D9B-9EC4743C052E}"/>
              </a:ext>
            </a:extLst>
          </p:cNvPr>
          <p:cNvSpPr txBox="1"/>
          <p:nvPr/>
        </p:nvSpPr>
        <p:spPr>
          <a:xfrm>
            <a:off x="1351044" y="2286309"/>
            <a:ext cx="8944586" cy="2130776"/>
          </a:xfrm>
          <a:prstGeom prst="rect">
            <a:avLst/>
          </a:prstGeom>
          <a:noFill/>
        </p:spPr>
        <p:txBody>
          <a:bodyPr wrap="square" rtlCol="0">
            <a:spAutoFit/>
          </a:bodyPr>
          <a:lstStyle/>
          <a:p>
            <a:endParaRPr lang="es-ES" sz="2800"/>
          </a:p>
          <a:p>
            <a:pPr marL="457200" indent="-457200">
              <a:buFont typeface="Wingdings" panose="05000000000000000000" pitchFamily="2" charset="2"/>
              <a:buChar char="Ø"/>
            </a:pPr>
            <a:r>
              <a:rPr lang="es-ES" sz="2800"/>
              <a:t>Proceso de </a:t>
            </a:r>
            <a:r>
              <a:rPr lang="fr-CA" sz="2800" err="1"/>
              <a:t>ideación</a:t>
            </a:r>
            <a:endParaRPr lang="es-ES" sz="2800"/>
          </a:p>
          <a:p>
            <a:endParaRPr lang="es-ES" sz="2800"/>
          </a:p>
          <a:p>
            <a:pPr marL="457200" indent="-457200">
              <a:lnSpc>
                <a:spcPct val="200000"/>
              </a:lnSpc>
              <a:buFont typeface="Wingdings" panose="05000000000000000000" pitchFamily="2" charset="2"/>
              <a:buChar char="Ø"/>
            </a:pPr>
            <a:r>
              <a:rPr lang="es-ES" sz="2800"/>
              <a:t>¿Cómo mejorar la experiencia de viaje?</a:t>
            </a:r>
            <a:endParaRPr lang="en-GB" sz="2800"/>
          </a:p>
        </p:txBody>
      </p:sp>
    </p:spTree>
    <p:extLst>
      <p:ext uri="{BB962C8B-B14F-4D97-AF65-F5344CB8AC3E}">
        <p14:creationId xmlns:p14="http://schemas.microsoft.com/office/powerpoint/2010/main" val="31605468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511FB-9E65-7448-D402-F91259CA495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3311047-B2D4-C503-4E0E-BB69464A01E3}"/>
              </a:ext>
            </a:extLst>
          </p:cNvPr>
          <p:cNvSpPr/>
          <p:nvPr/>
        </p:nvSpPr>
        <p:spPr>
          <a:xfrm rot="5400000">
            <a:off x="2371263" y="-3586018"/>
            <a:ext cx="9172037" cy="13405278"/>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BF558C24-CE2A-F510-944B-C688E4D2FABE}"/>
              </a:ext>
            </a:extLst>
          </p:cNvPr>
          <p:cNvSpPr/>
          <p:nvPr/>
        </p:nvSpPr>
        <p:spPr>
          <a:xfrm rot="5400000">
            <a:off x="2890070" y="-3736282"/>
            <a:ext cx="9172037" cy="1340528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A4097A56-9905-EC80-07B1-A0DC1637E21D}"/>
              </a:ext>
            </a:extLst>
          </p:cNvPr>
          <p:cNvSpPr/>
          <p:nvPr/>
        </p:nvSpPr>
        <p:spPr>
          <a:xfrm rot="5400000">
            <a:off x="8680807" y="1343705"/>
            <a:ext cx="8771576" cy="3645770"/>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5794B374-E08A-0C8E-2115-11C9324C0EC9}"/>
              </a:ext>
            </a:extLst>
          </p:cNvPr>
          <p:cNvSpPr txBox="1"/>
          <p:nvPr/>
        </p:nvSpPr>
        <p:spPr>
          <a:xfrm>
            <a:off x="1467491" y="398077"/>
            <a:ext cx="8106450" cy="1107996"/>
          </a:xfrm>
          <a:prstGeom prst="rect">
            <a:avLst/>
          </a:prstGeom>
          <a:noFill/>
        </p:spPr>
        <p:txBody>
          <a:bodyPr wrap="none" rtlCol="0">
            <a:spAutoFit/>
          </a:bodyPr>
          <a:lstStyle/>
          <a:p>
            <a:r>
              <a:rPr lang="en-GB" sz="6600" b="1" err="1">
                <a:solidFill>
                  <a:schemeClr val="bg1"/>
                </a:solidFill>
                <a:latin typeface="+mj-lt"/>
                <a:cs typeface="Aharoni" panose="02010803020104030203" pitchFamily="2" charset="-79"/>
              </a:rPr>
              <a:t>Objetivos</a:t>
            </a:r>
            <a:r>
              <a:rPr lang="en-GB" sz="6600" b="1">
                <a:solidFill>
                  <a:schemeClr val="bg1"/>
                </a:solidFill>
                <a:latin typeface="+mj-lt"/>
                <a:cs typeface="Aharoni" panose="02010803020104030203" pitchFamily="2" charset="-79"/>
              </a:rPr>
              <a:t> de la app - 2</a:t>
            </a:r>
          </a:p>
        </p:txBody>
      </p:sp>
      <p:sp>
        <p:nvSpPr>
          <p:cNvPr id="3" name="TextBox 2">
            <a:extLst>
              <a:ext uri="{FF2B5EF4-FFF2-40B4-BE49-F238E27FC236}">
                <a16:creationId xmlns:a16="http://schemas.microsoft.com/office/drawing/2014/main" id="{3D898CB6-CEF3-60B7-B84F-648EDB799F75}"/>
              </a:ext>
            </a:extLst>
          </p:cNvPr>
          <p:cNvSpPr txBox="1"/>
          <p:nvPr/>
        </p:nvSpPr>
        <p:spPr>
          <a:xfrm>
            <a:off x="1467491" y="2308160"/>
            <a:ext cx="8944586" cy="2561663"/>
          </a:xfrm>
          <a:prstGeom prst="rect">
            <a:avLst/>
          </a:prstGeom>
          <a:noFill/>
        </p:spPr>
        <p:txBody>
          <a:bodyPr wrap="square" rtlCol="0">
            <a:spAutoFit/>
          </a:bodyPr>
          <a:lstStyle/>
          <a:p>
            <a:endParaRPr lang="es-ES" sz="2800"/>
          </a:p>
          <a:p>
            <a:pPr marL="457200" indent="-457200">
              <a:buFont typeface="Wingdings" panose="05000000000000000000" pitchFamily="2" charset="2"/>
              <a:buChar char="Ø"/>
            </a:pPr>
            <a:r>
              <a:rPr lang="fr-CA" sz="2800" err="1"/>
              <a:t>Cómo</a:t>
            </a:r>
            <a:r>
              <a:rPr lang="fr-CA" sz="2800"/>
              <a:t> </a:t>
            </a:r>
            <a:r>
              <a:rPr lang="fr-CA" sz="2800" err="1"/>
              <a:t>funciona</a:t>
            </a:r>
            <a:r>
              <a:rPr lang="fr-CA" sz="2800"/>
              <a:t> </a:t>
            </a:r>
            <a:r>
              <a:rPr lang="fr-CA" sz="2800" err="1"/>
              <a:t>Travel</a:t>
            </a:r>
            <a:r>
              <a:rPr lang="fr-CA" sz="2800"/>
              <a:t> Buddy</a:t>
            </a:r>
            <a:endParaRPr lang="es-ES" sz="2800"/>
          </a:p>
          <a:p>
            <a:pPr marL="457200" indent="-457200">
              <a:lnSpc>
                <a:spcPct val="200000"/>
              </a:lnSpc>
              <a:buFont typeface="Wingdings" panose="05000000000000000000" pitchFamily="2" charset="2"/>
              <a:buChar char="Ø"/>
            </a:pPr>
            <a:r>
              <a:rPr lang="fr-CA" sz="2800" err="1"/>
              <a:t>Publicación</a:t>
            </a:r>
            <a:r>
              <a:rPr lang="fr-CA" sz="2800"/>
              <a:t> </a:t>
            </a:r>
            <a:r>
              <a:rPr lang="fr-CA" sz="2800" err="1"/>
              <a:t>del</a:t>
            </a:r>
            <a:r>
              <a:rPr lang="fr-CA" sz="2800"/>
              <a:t> </a:t>
            </a:r>
            <a:r>
              <a:rPr lang="fr-CA" sz="2800" err="1"/>
              <a:t>viaje</a:t>
            </a:r>
            <a:endParaRPr lang="fr-CA" sz="2800"/>
          </a:p>
          <a:p>
            <a:pPr marL="457200" indent="-457200">
              <a:lnSpc>
                <a:spcPct val="200000"/>
              </a:lnSpc>
              <a:buFont typeface="Wingdings" panose="05000000000000000000" pitchFamily="2" charset="2"/>
              <a:buChar char="Ø"/>
            </a:pPr>
            <a:r>
              <a:rPr lang="fr-CA" sz="2800" err="1"/>
              <a:t>Conexión</a:t>
            </a:r>
            <a:r>
              <a:rPr lang="fr-CA" sz="2800"/>
              <a:t> con locales</a:t>
            </a:r>
          </a:p>
        </p:txBody>
      </p:sp>
      <p:pic>
        <p:nvPicPr>
          <p:cNvPr id="8" name="Picture 7" descr="A screenshot of a computer&#10;&#10;AI-generated content may be incorrect.">
            <a:extLst>
              <a:ext uri="{FF2B5EF4-FFF2-40B4-BE49-F238E27FC236}">
                <a16:creationId xmlns:a16="http://schemas.microsoft.com/office/drawing/2014/main" id="{3BF7A6C1-8CCB-330C-FED8-5E6D5CC10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0987" y="1888471"/>
            <a:ext cx="2105226" cy="4203435"/>
          </a:xfrm>
          <a:prstGeom prst="rect">
            <a:avLst/>
          </a:prstGeom>
        </p:spPr>
      </p:pic>
    </p:spTree>
    <p:extLst>
      <p:ext uri="{BB962C8B-B14F-4D97-AF65-F5344CB8AC3E}">
        <p14:creationId xmlns:p14="http://schemas.microsoft.com/office/powerpoint/2010/main" val="22714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1F2FB-DC7A-C8D4-9DCA-174636A65D9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7B76F4A-67A7-4D7D-E815-8DE1E80B3232}"/>
              </a:ext>
            </a:extLst>
          </p:cNvPr>
          <p:cNvSpPr/>
          <p:nvPr/>
        </p:nvSpPr>
        <p:spPr>
          <a:xfrm rot="5400000">
            <a:off x="7302078" y="1553143"/>
            <a:ext cx="9172037" cy="315010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81EAD606-470D-6408-7EA2-0BDDF623B665}"/>
              </a:ext>
            </a:extLst>
          </p:cNvPr>
          <p:cNvSpPr/>
          <p:nvPr/>
        </p:nvSpPr>
        <p:spPr>
          <a:xfrm rot="5400000">
            <a:off x="7871652" y="1453645"/>
            <a:ext cx="9172037" cy="3048577"/>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54BE0792-A9E2-FB5C-CB2E-CFED1AEDDC96}"/>
              </a:ext>
            </a:extLst>
          </p:cNvPr>
          <p:cNvSpPr/>
          <p:nvPr/>
        </p:nvSpPr>
        <p:spPr>
          <a:xfrm rot="5400000">
            <a:off x="8782635" y="1653876"/>
            <a:ext cx="8771576" cy="304857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65FB29BB-9D8A-DB28-6305-D9A109894EBF}"/>
              </a:ext>
            </a:extLst>
          </p:cNvPr>
          <p:cNvSpPr txBox="1"/>
          <p:nvPr/>
        </p:nvSpPr>
        <p:spPr>
          <a:xfrm>
            <a:off x="1467156" y="2104760"/>
            <a:ext cx="8538363" cy="2123658"/>
          </a:xfrm>
          <a:prstGeom prst="rect">
            <a:avLst/>
          </a:prstGeom>
          <a:noFill/>
        </p:spPr>
        <p:txBody>
          <a:bodyPr wrap="none" rtlCol="0">
            <a:spAutoFit/>
          </a:bodyPr>
          <a:lstStyle/>
          <a:p>
            <a:r>
              <a:rPr lang="en-GB" sz="6600" b="1" err="1">
                <a:solidFill>
                  <a:schemeClr val="accent1"/>
                </a:solidFill>
                <a:latin typeface="+mj-lt"/>
                <a:cs typeface="Aharoni" panose="02010803020104030203" pitchFamily="2" charset="-79"/>
              </a:rPr>
              <a:t>Comparaci</a:t>
            </a:r>
            <a:r>
              <a:rPr lang="es-ES" sz="6600" b="1" err="1">
                <a:solidFill>
                  <a:schemeClr val="accent1"/>
                </a:solidFill>
                <a:latin typeface="+mj-lt"/>
                <a:cs typeface="Aharoni" panose="02010803020104030203" pitchFamily="2" charset="-79"/>
              </a:rPr>
              <a:t>ón</a:t>
            </a:r>
            <a:r>
              <a:rPr lang="es-ES" sz="6600" b="1">
                <a:solidFill>
                  <a:schemeClr val="accent1"/>
                </a:solidFill>
                <a:latin typeface="+mj-lt"/>
                <a:cs typeface="Aharoni" panose="02010803020104030203" pitchFamily="2" charset="-79"/>
              </a:rPr>
              <a:t> con otras</a:t>
            </a:r>
          </a:p>
          <a:p>
            <a:r>
              <a:rPr lang="es-ES" sz="6600" b="1">
                <a:solidFill>
                  <a:schemeClr val="accent1"/>
                </a:solidFill>
                <a:latin typeface="+mj-lt"/>
                <a:cs typeface="Aharoni" panose="02010803020104030203" pitchFamily="2" charset="-79"/>
              </a:rPr>
              <a:t>aplicaciones</a:t>
            </a:r>
            <a:endParaRPr lang="en-GB" sz="6600" b="1">
              <a:solidFill>
                <a:schemeClr val="accent1"/>
              </a:solidFill>
              <a:latin typeface="+mj-lt"/>
              <a:cs typeface="Aharoni" panose="02010803020104030203" pitchFamily="2" charset="-79"/>
            </a:endParaRPr>
          </a:p>
        </p:txBody>
      </p:sp>
    </p:spTree>
    <p:extLst>
      <p:ext uri="{BB962C8B-B14F-4D97-AF65-F5344CB8AC3E}">
        <p14:creationId xmlns:p14="http://schemas.microsoft.com/office/powerpoint/2010/main" val="4569547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64D4-D625-37A6-673F-D807F5723FD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9B3371F-E070-0D0B-924C-1784496EFAD3}"/>
              </a:ext>
            </a:extLst>
          </p:cNvPr>
          <p:cNvSpPr/>
          <p:nvPr/>
        </p:nvSpPr>
        <p:spPr>
          <a:xfrm rot="5400000">
            <a:off x="2394411" y="-3562867"/>
            <a:ext cx="9172037" cy="1335897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F796E16D-C387-847F-BE58-20861114444D}"/>
              </a:ext>
            </a:extLst>
          </p:cNvPr>
          <p:cNvSpPr/>
          <p:nvPr/>
        </p:nvSpPr>
        <p:spPr>
          <a:xfrm rot="5400000">
            <a:off x="8068421" y="1442070"/>
            <a:ext cx="9172037" cy="3048577"/>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9F0D1BF3-0675-5167-2928-2D265F4E218D}"/>
              </a:ext>
            </a:extLst>
          </p:cNvPr>
          <p:cNvSpPr/>
          <p:nvPr/>
        </p:nvSpPr>
        <p:spPr>
          <a:xfrm rot="5400000">
            <a:off x="8979404" y="1642301"/>
            <a:ext cx="8771576" cy="304857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1B15889-9BB1-E423-0C5C-8C417C203A19}"/>
              </a:ext>
            </a:extLst>
          </p:cNvPr>
          <p:cNvSpPr txBox="1"/>
          <p:nvPr/>
        </p:nvSpPr>
        <p:spPr>
          <a:xfrm>
            <a:off x="1452639" y="565328"/>
            <a:ext cx="5872057" cy="1107996"/>
          </a:xfrm>
          <a:prstGeom prst="rect">
            <a:avLst/>
          </a:prstGeom>
          <a:noFill/>
        </p:spPr>
        <p:txBody>
          <a:bodyPr wrap="none" rtlCol="0">
            <a:spAutoFit/>
          </a:bodyPr>
          <a:lstStyle/>
          <a:p>
            <a:r>
              <a:rPr lang="es-ES" sz="6600" b="1">
                <a:solidFill>
                  <a:schemeClr val="accent1"/>
                </a:solidFill>
                <a:latin typeface="+mj-lt"/>
                <a:cs typeface="Aharoni" panose="02010803020104030203" pitchFamily="2" charset="-79"/>
              </a:rPr>
              <a:t>Lo que ya existe</a:t>
            </a:r>
            <a:endParaRPr lang="en-GB" sz="6600" b="1">
              <a:solidFill>
                <a:schemeClr val="accent1"/>
              </a:solidFill>
              <a:latin typeface="+mj-lt"/>
              <a:cs typeface="Aharoni" panose="02010803020104030203" pitchFamily="2" charset="-79"/>
            </a:endParaRPr>
          </a:p>
        </p:txBody>
      </p:sp>
      <p:sp>
        <p:nvSpPr>
          <p:cNvPr id="3" name="TextBox 2">
            <a:extLst>
              <a:ext uri="{FF2B5EF4-FFF2-40B4-BE49-F238E27FC236}">
                <a16:creationId xmlns:a16="http://schemas.microsoft.com/office/drawing/2014/main" id="{44B35458-7876-F32E-9C0E-F5D90F1F1961}"/>
              </a:ext>
            </a:extLst>
          </p:cNvPr>
          <p:cNvSpPr txBox="1"/>
          <p:nvPr/>
        </p:nvSpPr>
        <p:spPr>
          <a:xfrm>
            <a:off x="1452639" y="2683032"/>
            <a:ext cx="8944586" cy="2992550"/>
          </a:xfrm>
          <a:prstGeom prst="rect">
            <a:avLst/>
          </a:prstGeom>
          <a:noFill/>
        </p:spPr>
        <p:txBody>
          <a:bodyPr wrap="square" rtlCol="0">
            <a:spAutoFit/>
          </a:bodyPr>
          <a:lstStyle/>
          <a:p>
            <a:r>
              <a:rPr lang="es-ES" sz="2800"/>
              <a:t>No hay muchas opciones similares en el mercado. Algunas alternativas podrían ser:</a:t>
            </a:r>
          </a:p>
          <a:p>
            <a:endParaRPr lang="es-ES" sz="2800"/>
          </a:p>
          <a:p>
            <a:pPr marL="457200" indent="-457200">
              <a:buFont typeface="Wingdings" panose="05000000000000000000" pitchFamily="2" charset="2"/>
              <a:buChar char="Ø"/>
            </a:pPr>
            <a:r>
              <a:rPr lang="es-ES" sz="2800" err="1"/>
              <a:t>ShowAround</a:t>
            </a:r>
            <a:endParaRPr lang="es-ES" sz="2800"/>
          </a:p>
          <a:p>
            <a:endParaRPr lang="es-ES" sz="2800"/>
          </a:p>
          <a:p>
            <a:pPr marL="457200" indent="-457200">
              <a:lnSpc>
                <a:spcPct val="200000"/>
              </a:lnSpc>
              <a:buFont typeface="Wingdings" panose="05000000000000000000" pitchFamily="2" charset="2"/>
              <a:buChar char="Ø"/>
            </a:pPr>
            <a:r>
              <a:rPr lang="es-ES" sz="2800"/>
              <a:t>Ask a local</a:t>
            </a:r>
            <a:endParaRPr lang="en-GB" sz="2800"/>
          </a:p>
        </p:txBody>
      </p:sp>
    </p:spTree>
    <p:extLst>
      <p:ext uri="{BB962C8B-B14F-4D97-AF65-F5344CB8AC3E}">
        <p14:creationId xmlns:p14="http://schemas.microsoft.com/office/powerpoint/2010/main" val="23056773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7F7E-9EDD-2526-F9D9-CD492AFE8D5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BA3A432-BA97-F69C-375D-E2AB9984AB68}"/>
              </a:ext>
            </a:extLst>
          </p:cNvPr>
          <p:cNvSpPr/>
          <p:nvPr/>
        </p:nvSpPr>
        <p:spPr>
          <a:xfrm rot="5400000">
            <a:off x="2394411" y="-3562867"/>
            <a:ext cx="9172037" cy="1335897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F0EB31F5-3F00-8F50-1F72-0AD13468560A}"/>
              </a:ext>
            </a:extLst>
          </p:cNvPr>
          <p:cNvSpPr/>
          <p:nvPr/>
        </p:nvSpPr>
        <p:spPr>
          <a:xfrm rot="5400000">
            <a:off x="2913219" y="-3713129"/>
            <a:ext cx="9172037" cy="13358978"/>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C9C0D2EB-32D3-C33B-6332-5428E0F46201}"/>
              </a:ext>
            </a:extLst>
          </p:cNvPr>
          <p:cNvSpPr/>
          <p:nvPr/>
        </p:nvSpPr>
        <p:spPr>
          <a:xfrm rot="5400000">
            <a:off x="8979404" y="1642301"/>
            <a:ext cx="8771576" cy="304857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EBB5C85-60CF-9273-7DB0-2A0076783534}"/>
              </a:ext>
            </a:extLst>
          </p:cNvPr>
          <p:cNvSpPr txBox="1"/>
          <p:nvPr/>
        </p:nvSpPr>
        <p:spPr>
          <a:xfrm>
            <a:off x="1452639" y="565328"/>
            <a:ext cx="8940974" cy="1107996"/>
          </a:xfrm>
          <a:prstGeom prst="rect">
            <a:avLst/>
          </a:prstGeom>
          <a:noFill/>
        </p:spPr>
        <p:txBody>
          <a:bodyPr wrap="none" rtlCol="0">
            <a:spAutoFit/>
          </a:bodyPr>
          <a:lstStyle/>
          <a:p>
            <a:r>
              <a:rPr lang="es-ES" sz="6600" b="1">
                <a:solidFill>
                  <a:schemeClr val="bg1"/>
                </a:solidFill>
                <a:latin typeface="+mj-lt"/>
                <a:cs typeface="Aharoni" panose="02010803020104030203" pitchFamily="2" charset="-79"/>
              </a:rPr>
              <a:t>Ventajas de </a:t>
            </a:r>
            <a:r>
              <a:rPr lang="es-ES" sz="6600" b="1" err="1">
                <a:solidFill>
                  <a:schemeClr val="bg1"/>
                </a:solidFill>
                <a:latin typeface="+mj-lt"/>
                <a:cs typeface="Aharoni" panose="02010803020104030203" pitchFamily="2" charset="-79"/>
              </a:rPr>
              <a:t>TravelBuddy</a:t>
            </a:r>
            <a:endParaRPr lang="en-GB" sz="6600" b="1">
              <a:solidFill>
                <a:schemeClr val="bg1"/>
              </a:solidFill>
              <a:latin typeface="+mj-lt"/>
              <a:cs typeface="Aharoni" panose="02010803020104030203" pitchFamily="2" charset="-79"/>
            </a:endParaRPr>
          </a:p>
        </p:txBody>
      </p:sp>
      <p:sp>
        <p:nvSpPr>
          <p:cNvPr id="3" name="TextBox 2">
            <a:extLst>
              <a:ext uri="{FF2B5EF4-FFF2-40B4-BE49-F238E27FC236}">
                <a16:creationId xmlns:a16="http://schemas.microsoft.com/office/drawing/2014/main" id="{A97EDACD-1D61-EDD1-5DE7-9A14B8FF48EF}"/>
              </a:ext>
            </a:extLst>
          </p:cNvPr>
          <p:cNvSpPr txBox="1"/>
          <p:nvPr/>
        </p:nvSpPr>
        <p:spPr>
          <a:xfrm>
            <a:off x="1452639" y="2666293"/>
            <a:ext cx="9805445" cy="2677656"/>
          </a:xfrm>
          <a:prstGeom prst="rect">
            <a:avLst/>
          </a:prstGeom>
          <a:noFill/>
        </p:spPr>
        <p:txBody>
          <a:bodyPr wrap="square" rtlCol="0">
            <a:spAutoFit/>
          </a:bodyPr>
          <a:lstStyle/>
          <a:p>
            <a:pPr marL="285750" indent="-285750">
              <a:buFont typeface="Wingdings" panose="05000000000000000000" pitchFamily="2" charset="2"/>
              <a:buChar char="Ø"/>
            </a:pPr>
            <a:r>
              <a:rPr lang="es-ES" sz="2800">
                <a:solidFill>
                  <a:schemeClr val="bg1"/>
                </a:solidFill>
              </a:rPr>
              <a:t> Permite </a:t>
            </a:r>
            <a:r>
              <a:rPr lang="es-ES" sz="2800" b="1">
                <a:solidFill>
                  <a:schemeClr val="bg1"/>
                </a:solidFill>
              </a:rPr>
              <a:t>ahorrar tiempo </a:t>
            </a:r>
            <a:r>
              <a:rPr lang="es-ES" sz="2800">
                <a:solidFill>
                  <a:schemeClr val="bg1"/>
                </a:solidFill>
              </a:rPr>
              <a:t>si eres viajero y </a:t>
            </a:r>
            <a:r>
              <a:rPr lang="es-ES" sz="2800" b="1">
                <a:solidFill>
                  <a:schemeClr val="bg1"/>
                </a:solidFill>
              </a:rPr>
              <a:t>ganar dinero</a:t>
            </a:r>
            <a:r>
              <a:rPr lang="es-ES" sz="2800">
                <a:solidFill>
                  <a:schemeClr val="bg1"/>
                </a:solidFill>
              </a:rPr>
              <a:t> fácilmente si te propones como guía</a:t>
            </a:r>
          </a:p>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a:t>
            </a:r>
            <a:r>
              <a:rPr lang="es-ES" sz="2800" b="1">
                <a:solidFill>
                  <a:schemeClr val="bg1"/>
                </a:solidFill>
              </a:rPr>
              <a:t>No</a:t>
            </a:r>
            <a:r>
              <a:rPr lang="es-ES" sz="2800">
                <a:solidFill>
                  <a:schemeClr val="bg1"/>
                </a:solidFill>
              </a:rPr>
              <a:t> requiere la presencia física del guía</a:t>
            </a:r>
          </a:p>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Coloca la tarea de búsqueda sobre los guías</a:t>
            </a:r>
            <a:endParaRPr lang="en-GB" sz="2800">
              <a:solidFill>
                <a:schemeClr val="bg1"/>
              </a:solidFill>
            </a:endParaRPr>
          </a:p>
        </p:txBody>
      </p:sp>
    </p:spTree>
    <p:extLst>
      <p:ext uri="{BB962C8B-B14F-4D97-AF65-F5344CB8AC3E}">
        <p14:creationId xmlns:p14="http://schemas.microsoft.com/office/powerpoint/2010/main" val="13184332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69A37-BD93-B594-F32D-B7129698418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2C01384-DF3C-3CCE-3B2E-719F66BD5607}"/>
              </a:ext>
            </a:extLst>
          </p:cNvPr>
          <p:cNvSpPr/>
          <p:nvPr/>
        </p:nvSpPr>
        <p:spPr>
          <a:xfrm rot="5400000">
            <a:off x="2394411" y="-3562867"/>
            <a:ext cx="9172037" cy="1335897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46F73044-978A-14A1-EEF7-B309DBC36E98}"/>
              </a:ext>
            </a:extLst>
          </p:cNvPr>
          <p:cNvSpPr/>
          <p:nvPr/>
        </p:nvSpPr>
        <p:spPr>
          <a:xfrm rot="5400000">
            <a:off x="2913219" y="-3713129"/>
            <a:ext cx="9172037" cy="13358978"/>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338671B4-9B3E-509C-5BFC-5D3531EE8441}"/>
              </a:ext>
            </a:extLst>
          </p:cNvPr>
          <p:cNvSpPr/>
          <p:nvPr/>
        </p:nvSpPr>
        <p:spPr>
          <a:xfrm rot="5400000">
            <a:off x="3724497" y="-3612606"/>
            <a:ext cx="8771576" cy="13558392"/>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18847523-93B5-ECCE-3DD3-8AC466E866D3}"/>
              </a:ext>
            </a:extLst>
          </p:cNvPr>
          <p:cNvSpPr txBox="1"/>
          <p:nvPr/>
        </p:nvSpPr>
        <p:spPr>
          <a:xfrm>
            <a:off x="1452639" y="565328"/>
            <a:ext cx="10457030" cy="1107996"/>
          </a:xfrm>
          <a:prstGeom prst="rect">
            <a:avLst/>
          </a:prstGeom>
          <a:noFill/>
        </p:spPr>
        <p:txBody>
          <a:bodyPr wrap="none" rtlCol="0">
            <a:spAutoFit/>
          </a:bodyPr>
          <a:lstStyle/>
          <a:p>
            <a:r>
              <a:rPr lang="es-ES" sz="6600" b="1">
                <a:solidFill>
                  <a:schemeClr val="bg1"/>
                </a:solidFill>
                <a:latin typeface="+mj-lt"/>
                <a:cs typeface="Aharoni" panose="02010803020104030203" pitchFamily="2" charset="-79"/>
              </a:rPr>
              <a:t>Limitaciones de </a:t>
            </a:r>
            <a:r>
              <a:rPr lang="es-ES" sz="6600" b="1" err="1">
                <a:solidFill>
                  <a:schemeClr val="bg1"/>
                </a:solidFill>
                <a:latin typeface="+mj-lt"/>
                <a:cs typeface="Aharoni" panose="02010803020104030203" pitchFamily="2" charset="-79"/>
              </a:rPr>
              <a:t>TravelBuddy</a:t>
            </a:r>
            <a:endParaRPr lang="en-GB" sz="6600" b="1">
              <a:solidFill>
                <a:schemeClr val="bg1"/>
              </a:solidFill>
              <a:latin typeface="+mj-lt"/>
              <a:cs typeface="Aharoni" panose="02010803020104030203" pitchFamily="2" charset="-79"/>
            </a:endParaRPr>
          </a:p>
        </p:txBody>
      </p:sp>
      <p:sp>
        <p:nvSpPr>
          <p:cNvPr id="3" name="TextBox 2">
            <a:extLst>
              <a:ext uri="{FF2B5EF4-FFF2-40B4-BE49-F238E27FC236}">
                <a16:creationId xmlns:a16="http://schemas.microsoft.com/office/drawing/2014/main" id="{DD0EE083-239A-8A39-F7FA-3110B3FD4CB1}"/>
              </a:ext>
            </a:extLst>
          </p:cNvPr>
          <p:cNvSpPr txBox="1"/>
          <p:nvPr/>
        </p:nvSpPr>
        <p:spPr>
          <a:xfrm>
            <a:off x="1452639" y="2820062"/>
            <a:ext cx="9158701" cy="2246769"/>
          </a:xfrm>
          <a:prstGeom prst="rect">
            <a:avLst/>
          </a:prstGeom>
          <a:noFill/>
        </p:spPr>
        <p:txBody>
          <a:bodyPr wrap="square" rtlCol="0">
            <a:spAutoFit/>
          </a:bodyPr>
          <a:lstStyle/>
          <a:p>
            <a:r>
              <a:rPr lang="es-ES" sz="2800">
                <a:solidFill>
                  <a:schemeClr val="bg1"/>
                </a:solidFill>
              </a:rPr>
              <a:t>En esta primera versión de la aplicación:</a:t>
            </a:r>
          </a:p>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No se proporciona un método de pago interno en la app</a:t>
            </a:r>
          </a:p>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No hay un sistema de chat interno en la app</a:t>
            </a:r>
          </a:p>
        </p:txBody>
      </p:sp>
    </p:spTree>
    <p:extLst>
      <p:ext uri="{BB962C8B-B14F-4D97-AF65-F5344CB8AC3E}">
        <p14:creationId xmlns:p14="http://schemas.microsoft.com/office/powerpoint/2010/main" val="21026311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CA71A-4A85-EF4B-98A5-CBD0345480F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F499C69-2617-A3FD-45D3-BE20C63F101B}"/>
              </a:ext>
            </a:extLst>
          </p:cNvPr>
          <p:cNvSpPr/>
          <p:nvPr/>
        </p:nvSpPr>
        <p:spPr>
          <a:xfrm rot="5400000">
            <a:off x="7348375" y="1391100"/>
            <a:ext cx="9172037" cy="3451046"/>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C803117A-2156-71A5-BD30-9760EAFDB379}"/>
              </a:ext>
            </a:extLst>
          </p:cNvPr>
          <p:cNvSpPr/>
          <p:nvPr/>
        </p:nvSpPr>
        <p:spPr>
          <a:xfrm rot="5400000">
            <a:off x="7926082" y="1299737"/>
            <a:ext cx="9172037" cy="3333247"/>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39145CF4-FDF4-1225-5672-B11D24410127}"/>
              </a:ext>
            </a:extLst>
          </p:cNvPr>
          <p:cNvSpPr/>
          <p:nvPr/>
        </p:nvSpPr>
        <p:spPr>
          <a:xfrm rot="5400000">
            <a:off x="8837069" y="1499966"/>
            <a:ext cx="8771576" cy="333324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AF36802F-D903-EC9F-93C3-C8ED025F7B7D}"/>
              </a:ext>
            </a:extLst>
          </p:cNvPr>
          <p:cNvSpPr txBox="1"/>
          <p:nvPr/>
        </p:nvSpPr>
        <p:spPr>
          <a:xfrm>
            <a:off x="1838336" y="2367171"/>
            <a:ext cx="8688837" cy="2123658"/>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Estrategia de monetización</a:t>
            </a:r>
            <a:endParaRPr lang="en-GB" sz="6600" b="1">
              <a:solidFill>
                <a:schemeClr val="accent1"/>
              </a:solidFill>
              <a:latin typeface="+mj-lt"/>
              <a:cs typeface="Aharoni" panose="02010803020104030203" pitchFamily="2" charset="-79"/>
            </a:endParaRPr>
          </a:p>
        </p:txBody>
      </p:sp>
    </p:spTree>
    <p:extLst>
      <p:ext uri="{BB962C8B-B14F-4D97-AF65-F5344CB8AC3E}">
        <p14:creationId xmlns:p14="http://schemas.microsoft.com/office/powerpoint/2010/main" val="10880047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5BB7-1B76-CB08-2650-5C56E48F5DC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2DD6927-98BF-851A-074C-917E7509F22F}"/>
              </a:ext>
            </a:extLst>
          </p:cNvPr>
          <p:cNvSpPr/>
          <p:nvPr/>
        </p:nvSpPr>
        <p:spPr>
          <a:xfrm rot="5400000">
            <a:off x="2429135" y="-3528139"/>
            <a:ext cx="9172037" cy="1328952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D9BEB844-7E5F-5177-FBBA-EBC495976041}"/>
              </a:ext>
            </a:extLst>
          </p:cNvPr>
          <p:cNvSpPr/>
          <p:nvPr/>
        </p:nvSpPr>
        <p:spPr>
          <a:xfrm rot="5400000">
            <a:off x="7926082" y="1299737"/>
            <a:ext cx="9172037" cy="3333247"/>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6E8471DA-1BE4-563A-9F18-EEB041975367}"/>
              </a:ext>
            </a:extLst>
          </p:cNvPr>
          <p:cNvSpPr/>
          <p:nvPr/>
        </p:nvSpPr>
        <p:spPr>
          <a:xfrm rot="5400000">
            <a:off x="8837069" y="1499966"/>
            <a:ext cx="8771576" cy="333324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3A60524-A1DD-E644-B3A3-569492BAB7AB}"/>
              </a:ext>
            </a:extLst>
          </p:cNvPr>
          <p:cNvSpPr txBox="1"/>
          <p:nvPr/>
        </p:nvSpPr>
        <p:spPr>
          <a:xfrm>
            <a:off x="1801262" y="457348"/>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Modelo</a:t>
            </a:r>
            <a:endParaRPr lang="en-GB" sz="6600" b="1">
              <a:solidFill>
                <a:schemeClr val="accent1"/>
              </a:solidFill>
              <a:latin typeface="+mj-lt"/>
              <a:cs typeface="Aharoni" panose="02010803020104030203" pitchFamily="2" charset="-79"/>
            </a:endParaRPr>
          </a:p>
        </p:txBody>
      </p:sp>
      <p:sp>
        <p:nvSpPr>
          <p:cNvPr id="8" name="TextBox 7">
            <a:extLst>
              <a:ext uri="{FF2B5EF4-FFF2-40B4-BE49-F238E27FC236}">
                <a16:creationId xmlns:a16="http://schemas.microsoft.com/office/drawing/2014/main" id="{9E70DF22-97EA-1ABE-1B73-7D4F408DC530}"/>
              </a:ext>
            </a:extLst>
          </p:cNvPr>
          <p:cNvSpPr txBox="1"/>
          <p:nvPr/>
        </p:nvSpPr>
        <p:spPr>
          <a:xfrm>
            <a:off x="1801262" y="1777796"/>
            <a:ext cx="9158701" cy="2677656"/>
          </a:xfrm>
          <a:prstGeom prst="rect">
            <a:avLst/>
          </a:prstGeom>
          <a:noFill/>
        </p:spPr>
        <p:txBody>
          <a:bodyPr wrap="square" rtlCol="0">
            <a:spAutoFit/>
          </a:bodyPr>
          <a:lstStyle/>
          <a:p>
            <a:endParaRPr lang="es-ES" sz="2800"/>
          </a:p>
          <a:p>
            <a:pPr marL="285750" indent="-285750">
              <a:buFont typeface="Wingdings" panose="05000000000000000000" pitchFamily="2" charset="2"/>
              <a:buChar char="Ø"/>
            </a:pPr>
            <a:r>
              <a:rPr lang="es-ES" sz="2800"/>
              <a:t> In app purchase</a:t>
            </a:r>
          </a:p>
          <a:p>
            <a:endParaRPr lang="es-ES" sz="2800"/>
          </a:p>
          <a:p>
            <a:pPr marL="285750" indent="-285750">
              <a:buFont typeface="Wingdings" panose="05000000000000000000" pitchFamily="2" charset="2"/>
              <a:buChar char="Ø"/>
            </a:pPr>
            <a:r>
              <a:rPr lang="es-ES" sz="2800"/>
              <a:t> Servicios premium</a:t>
            </a:r>
          </a:p>
          <a:p>
            <a:pPr marL="285750" indent="-285750">
              <a:buFont typeface="Wingdings" panose="05000000000000000000" pitchFamily="2" charset="2"/>
              <a:buChar char="Ø"/>
            </a:pPr>
            <a:endParaRPr lang="es-ES" sz="2800"/>
          </a:p>
          <a:p>
            <a:pPr marL="285750" indent="-285750">
              <a:buFont typeface="Wingdings" panose="05000000000000000000" pitchFamily="2" charset="2"/>
              <a:buChar char="Ø"/>
            </a:pPr>
            <a:r>
              <a:rPr lang="es-ES" sz="2800"/>
              <a:t>Característica futura</a:t>
            </a:r>
          </a:p>
        </p:txBody>
      </p:sp>
    </p:spTree>
    <p:extLst>
      <p:ext uri="{BB962C8B-B14F-4D97-AF65-F5344CB8AC3E}">
        <p14:creationId xmlns:p14="http://schemas.microsoft.com/office/powerpoint/2010/main" val="30637897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3EF3-A408-7016-4E00-BC026A1C4FF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49505AC-0CB4-07BE-BD5E-B2E88077ECBF}"/>
              </a:ext>
            </a:extLst>
          </p:cNvPr>
          <p:cNvSpPr/>
          <p:nvPr/>
        </p:nvSpPr>
        <p:spPr>
          <a:xfrm rot="5400000">
            <a:off x="2429135" y="-3528139"/>
            <a:ext cx="9172037" cy="13289527"/>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484446B8-F552-0671-4E69-20A4C5BCC306}"/>
              </a:ext>
            </a:extLst>
          </p:cNvPr>
          <p:cNvSpPr/>
          <p:nvPr/>
        </p:nvSpPr>
        <p:spPr>
          <a:xfrm rot="5400000">
            <a:off x="2947941" y="-3678403"/>
            <a:ext cx="9172037" cy="13289528"/>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E35A81A9-61DB-48B7-79BA-2C54B4E0E1B3}"/>
              </a:ext>
            </a:extLst>
          </p:cNvPr>
          <p:cNvSpPr/>
          <p:nvPr/>
        </p:nvSpPr>
        <p:spPr>
          <a:xfrm rot="5400000">
            <a:off x="8837069" y="1499966"/>
            <a:ext cx="8771576" cy="3333247"/>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D459D977-A741-037A-33F5-81113B08749C}"/>
              </a:ext>
            </a:extLst>
          </p:cNvPr>
          <p:cNvSpPr txBox="1"/>
          <p:nvPr/>
        </p:nvSpPr>
        <p:spPr>
          <a:xfrm>
            <a:off x="1931890" y="491215"/>
            <a:ext cx="8688837" cy="1107996"/>
          </a:xfrm>
          <a:prstGeom prst="rect">
            <a:avLst/>
          </a:prstGeom>
          <a:noFill/>
        </p:spPr>
        <p:txBody>
          <a:bodyPr wrap="square" rtlCol="0">
            <a:spAutoFit/>
          </a:bodyPr>
          <a:lstStyle/>
          <a:p>
            <a:r>
              <a:rPr lang="es-ES" sz="6600">
                <a:solidFill>
                  <a:schemeClr val="bg1"/>
                </a:solidFill>
              </a:rPr>
              <a:t>Asistencia Continua</a:t>
            </a:r>
            <a:endParaRPr lang="en-GB" sz="6600" b="1">
              <a:solidFill>
                <a:schemeClr val="bg1"/>
              </a:solidFill>
              <a:latin typeface="+mj-lt"/>
              <a:cs typeface="Aharoni" panose="02010803020104030203" pitchFamily="2" charset="-79"/>
            </a:endParaRPr>
          </a:p>
        </p:txBody>
      </p:sp>
      <p:sp>
        <p:nvSpPr>
          <p:cNvPr id="8" name="TextBox 7">
            <a:extLst>
              <a:ext uri="{FF2B5EF4-FFF2-40B4-BE49-F238E27FC236}">
                <a16:creationId xmlns:a16="http://schemas.microsoft.com/office/drawing/2014/main" id="{070B7C90-4B2D-9895-2203-9126BC3BA99F}"/>
              </a:ext>
            </a:extLst>
          </p:cNvPr>
          <p:cNvSpPr txBox="1"/>
          <p:nvPr/>
        </p:nvSpPr>
        <p:spPr>
          <a:xfrm>
            <a:off x="1801262" y="1777796"/>
            <a:ext cx="9158701" cy="2677656"/>
          </a:xfrm>
          <a:prstGeom prst="rect">
            <a:avLst/>
          </a:prstGeom>
          <a:noFill/>
        </p:spPr>
        <p:txBody>
          <a:bodyPr wrap="square" rtlCol="0">
            <a:spAutoFit/>
          </a:bodyPr>
          <a:lstStyle/>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Apoyo durante el viaje</a:t>
            </a:r>
          </a:p>
          <a:p>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 Modelo económico</a:t>
            </a:r>
          </a:p>
          <a:p>
            <a:pPr marL="285750" indent="-285750">
              <a:buFont typeface="Wingdings" panose="05000000000000000000" pitchFamily="2" charset="2"/>
              <a:buChar char="Ø"/>
            </a:pPr>
            <a:endParaRPr lang="es-ES" sz="2800">
              <a:solidFill>
                <a:schemeClr val="bg1"/>
              </a:solidFill>
            </a:endParaRPr>
          </a:p>
          <a:p>
            <a:pPr marL="285750" indent="-285750">
              <a:buFont typeface="Wingdings" panose="05000000000000000000" pitchFamily="2" charset="2"/>
              <a:buChar char="Ø"/>
            </a:pPr>
            <a:r>
              <a:rPr lang="es-ES" sz="2800">
                <a:solidFill>
                  <a:schemeClr val="bg1"/>
                </a:solidFill>
              </a:rPr>
              <a:t>Incentivos alineados</a:t>
            </a:r>
          </a:p>
        </p:txBody>
      </p:sp>
    </p:spTree>
    <p:extLst>
      <p:ext uri="{BB962C8B-B14F-4D97-AF65-F5344CB8AC3E}">
        <p14:creationId xmlns:p14="http://schemas.microsoft.com/office/powerpoint/2010/main" val="21783005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0B5F-D8F2-35D2-6980-7E5543C5BCF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A41DC06-FFD1-3941-03A9-C568032BE3AD}"/>
              </a:ext>
            </a:extLst>
          </p:cNvPr>
          <p:cNvSpPr/>
          <p:nvPr/>
        </p:nvSpPr>
        <p:spPr>
          <a:xfrm rot="5400000">
            <a:off x="7138367" y="1458885"/>
            <a:ext cx="9172037" cy="329232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A8C832DD-D998-C734-4D24-0EFE56B91947}"/>
              </a:ext>
            </a:extLst>
          </p:cNvPr>
          <p:cNvSpPr/>
          <p:nvPr/>
        </p:nvSpPr>
        <p:spPr>
          <a:xfrm rot="5400000">
            <a:off x="7787188" y="1438636"/>
            <a:ext cx="9172037" cy="3032301"/>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11BF6F22-AA62-D364-07C9-A5A6074C5D95}"/>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0E095F3-545F-A404-1D2F-724D38959212}"/>
              </a:ext>
            </a:extLst>
          </p:cNvPr>
          <p:cNvSpPr txBox="1"/>
          <p:nvPr/>
        </p:nvSpPr>
        <p:spPr>
          <a:xfrm>
            <a:off x="1389384" y="2875002"/>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Arquitectura de la app</a:t>
            </a:r>
            <a:endParaRPr lang="en-GB" sz="6600" b="1">
              <a:solidFill>
                <a:schemeClr val="accent1"/>
              </a:solidFill>
              <a:latin typeface="+mj-lt"/>
              <a:cs typeface="Aharoni" panose="02010803020104030203" pitchFamily="2" charset="-79"/>
            </a:endParaRPr>
          </a:p>
        </p:txBody>
      </p:sp>
    </p:spTree>
    <p:extLst>
      <p:ext uri="{BB962C8B-B14F-4D97-AF65-F5344CB8AC3E}">
        <p14:creationId xmlns:p14="http://schemas.microsoft.com/office/powerpoint/2010/main" val="5747186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283C-B4B4-F317-787D-5A369D27C47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DDA1A33-0C9B-D744-987F-71008EDEEBA3}"/>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3EF114DE-3196-7FB5-8895-8B58E0C7F243}"/>
              </a:ext>
            </a:extLst>
          </p:cNvPr>
          <p:cNvSpPr/>
          <p:nvPr/>
        </p:nvSpPr>
        <p:spPr>
          <a:xfrm rot="5400000">
            <a:off x="7787188" y="1438636"/>
            <a:ext cx="9172037" cy="3032301"/>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F028D17A-BAAD-B97C-F00E-4CE0274F700F}"/>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6D181EF9-D2CB-68AD-08FC-FFEA6EDBBC78}"/>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Arquitectura - </a:t>
            </a:r>
            <a:r>
              <a:rPr lang="es-ES" sz="6600" b="1" err="1">
                <a:solidFill>
                  <a:schemeClr val="accent1"/>
                </a:solidFill>
                <a:latin typeface="+mj-lt"/>
                <a:cs typeface="Aharoni" panose="02010803020104030203" pitchFamily="2" charset="-79"/>
              </a:rPr>
              <a:t>Clean</a:t>
            </a:r>
            <a:endParaRPr lang="en-GB" sz="6600" b="1">
              <a:solidFill>
                <a:schemeClr val="accent1"/>
              </a:solidFill>
              <a:latin typeface="+mj-lt"/>
              <a:cs typeface="Aharoni" panose="02010803020104030203" pitchFamily="2" charset="-79"/>
            </a:endParaRPr>
          </a:p>
        </p:txBody>
      </p:sp>
      <p:sp>
        <p:nvSpPr>
          <p:cNvPr id="3" name="Oval 2">
            <a:extLst>
              <a:ext uri="{FF2B5EF4-FFF2-40B4-BE49-F238E27FC236}">
                <a16:creationId xmlns:a16="http://schemas.microsoft.com/office/drawing/2014/main" id="{2FB192FA-A244-AA2E-3741-AA623AAC24DC}"/>
              </a:ext>
            </a:extLst>
          </p:cNvPr>
          <p:cNvSpPr/>
          <p:nvPr/>
        </p:nvSpPr>
        <p:spPr>
          <a:xfrm>
            <a:off x="3321158" y="8823381"/>
            <a:ext cx="4374459" cy="4374459"/>
          </a:xfrm>
          <a:prstGeom prst="ellipse">
            <a:avLst/>
          </a:prstGeom>
          <a:solidFill>
            <a:srgbClr val="A7F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78843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EB88-ECAC-A5E4-188F-A5C78CF1E4CE}"/>
            </a:ext>
          </a:extLst>
        </p:cNvPr>
        <p:cNvGrpSpPr/>
        <p:nvPr/>
      </p:nvGrpSpPr>
      <p:grpSpPr>
        <a:xfrm>
          <a:off x="0" y="0"/>
          <a:ext cx="0" cy="0"/>
          <a:chOff x="0" y="0"/>
          <a:chExt cx="0" cy="0"/>
        </a:xfrm>
      </p:grpSpPr>
      <p:sp>
        <p:nvSpPr>
          <p:cNvPr id="12" name="Oval 11" hidden="1">
            <a:extLst>
              <a:ext uri="{FF2B5EF4-FFF2-40B4-BE49-F238E27FC236}">
                <a16:creationId xmlns:a16="http://schemas.microsoft.com/office/drawing/2014/main" id="{168B40B4-3C0B-D1DD-B22B-58DD87B8AA29}"/>
              </a:ext>
            </a:extLst>
          </p:cNvPr>
          <p:cNvSpPr/>
          <p:nvPr/>
        </p:nvSpPr>
        <p:spPr>
          <a:xfrm>
            <a:off x="5035472" y="4008400"/>
            <a:ext cx="506436" cy="506436"/>
          </a:xfrm>
          <a:prstGeom prst="ellipse">
            <a:avLst/>
          </a:prstGeom>
          <a:solidFill>
            <a:srgbClr val="A7F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A4D8630-437F-ED61-D28E-DF413BE71E7E}"/>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645D7E99-D4CE-59DC-B7D3-934F506AE9F7}"/>
              </a:ext>
            </a:extLst>
          </p:cNvPr>
          <p:cNvSpPr/>
          <p:nvPr/>
        </p:nvSpPr>
        <p:spPr>
          <a:xfrm rot="5400000">
            <a:off x="7787188" y="1438636"/>
            <a:ext cx="9172037" cy="3032301"/>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36E479A9-04DC-3CC2-2AEE-041403480956}"/>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F81F320-3F9A-8FC1-179A-2718E443D294}"/>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Arquitectura - </a:t>
            </a:r>
            <a:r>
              <a:rPr lang="es-ES" sz="6600" b="1" err="1">
                <a:solidFill>
                  <a:schemeClr val="accent1"/>
                </a:solidFill>
                <a:latin typeface="+mj-lt"/>
                <a:cs typeface="Aharoni" panose="02010803020104030203" pitchFamily="2" charset="-79"/>
              </a:rPr>
              <a:t>Clean</a:t>
            </a:r>
            <a:endParaRPr lang="en-GB" sz="6600" b="1">
              <a:solidFill>
                <a:schemeClr val="accent1"/>
              </a:solidFill>
              <a:latin typeface="+mj-lt"/>
              <a:cs typeface="Aharoni" panose="02010803020104030203" pitchFamily="2" charset="-79"/>
            </a:endParaRPr>
          </a:p>
        </p:txBody>
      </p:sp>
      <p:sp>
        <p:nvSpPr>
          <p:cNvPr id="3" name="Oval 2">
            <a:extLst>
              <a:ext uri="{FF2B5EF4-FFF2-40B4-BE49-F238E27FC236}">
                <a16:creationId xmlns:a16="http://schemas.microsoft.com/office/drawing/2014/main" id="{27087482-5308-F8C7-BEB2-5A96842A0CFA}"/>
              </a:ext>
            </a:extLst>
          </p:cNvPr>
          <p:cNvSpPr/>
          <p:nvPr/>
        </p:nvSpPr>
        <p:spPr>
          <a:xfrm>
            <a:off x="3138278" y="1992924"/>
            <a:ext cx="4374459" cy="437445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8B9B9045-9FEB-AF4E-662E-6DD304BBF7FA}"/>
              </a:ext>
            </a:extLst>
          </p:cNvPr>
          <p:cNvSpPr txBox="1"/>
          <p:nvPr/>
        </p:nvSpPr>
        <p:spPr>
          <a:xfrm>
            <a:off x="4245629" y="2840314"/>
            <a:ext cx="862352" cy="584775"/>
          </a:xfrm>
          <a:prstGeom prst="rect">
            <a:avLst/>
          </a:prstGeom>
          <a:noFill/>
        </p:spPr>
        <p:txBody>
          <a:bodyPr wrap="none" rtlCol="0">
            <a:spAutoFit/>
          </a:bodyPr>
          <a:lstStyle/>
          <a:p>
            <a:r>
              <a:rPr lang="es-ES" sz="3200"/>
              <a:t>Site</a:t>
            </a:r>
            <a:endParaRPr lang="en-GB" sz="2800"/>
          </a:p>
        </p:txBody>
      </p:sp>
      <p:sp>
        <p:nvSpPr>
          <p:cNvPr id="8" name="TextBox 7">
            <a:extLst>
              <a:ext uri="{FF2B5EF4-FFF2-40B4-BE49-F238E27FC236}">
                <a16:creationId xmlns:a16="http://schemas.microsoft.com/office/drawing/2014/main" id="{9482BB48-E48D-5BED-647C-316E884CAD43}"/>
              </a:ext>
            </a:extLst>
          </p:cNvPr>
          <p:cNvSpPr txBox="1"/>
          <p:nvPr/>
        </p:nvSpPr>
        <p:spPr>
          <a:xfrm>
            <a:off x="3804401" y="4665405"/>
            <a:ext cx="1071384" cy="584775"/>
          </a:xfrm>
          <a:prstGeom prst="rect">
            <a:avLst/>
          </a:prstGeom>
          <a:noFill/>
        </p:spPr>
        <p:txBody>
          <a:bodyPr wrap="square" rtlCol="0">
            <a:spAutoFit/>
          </a:bodyPr>
          <a:lstStyle/>
          <a:p>
            <a:r>
              <a:rPr lang="es-ES" sz="3200" err="1"/>
              <a:t>Trip</a:t>
            </a:r>
            <a:endParaRPr lang="en-GB"/>
          </a:p>
        </p:txBody>
      </p:sp>
      <p:sp>
        <p:nvSpPr>
          <p:cNvPr id="9" name="TextBox 8">
            <a:extLst>
              <a:ext uri="{FF2B5EF4-FFF2-40B4-BE49-F238E27FC236}">
                <a16:creationId xmlns:a16="http://schemas.microsoft.com/office/drawing/2014/main" id="{7CAD0ED7-D076-29D2-404C-9FF00A92C9A9}"/>
              </a:ext>
            </a:extLst>
          </p:cNvPr>
          <p:cNvSpPr txBox="1"/>
          <p:nvPr/>
        </p:nvSpPr>
        <p:spPr>
          <a:xfrm>
            <a:off x="4894355" y="3603113"/>
            <a:ext cx="2557688" cy="584775"/>
          </a:xfrm>
          <a:prstGeom prst="rect">
            <a:avLst/>
          </a:prstGeom>
          <a:noFill/>
        </p:spPr>
        <p:txBody>
          <a:bodyPr wrap="none" rtlCol="0">
            <a:spAutoFit/>
          </a:bodyPr>
          <a:lstStyle/>
          <a:p>
            <a:r>
              <a:rPr lang="es-ES" sz="3200" err="1"/>
              <a:t>GuideAnswer</a:t>
            </a:r>
            <a:endParaRPr lang="en-GB"/>
          </a:p>
        </p:txBody>
      </p:sp>
      <p:sp>
        <p:nvSpPr>
          <p:cNvPr id="10" name="TextBox 9">
            <a:extLst>
              <a:ext uri="{FF2B5EF4-FFF2-40B4-BE49-F238E27FC236}">
                <a16:creationId xmlns:a16="http://schemas.microsoft.com/office/drawing/2014/main" id="{D8F58BCB-34E7-730A-222D-DE04FD9146B2}"/>
              </a:ext>
            </a:extLst>
          </p:cNvPr>
          <p:cNvSpPr txBox="1"/>
          <p:nvPr/>
        </p:nvSpPr>
        <p:spPr>
          <a:xfrm>
            <a:off x="5541908" y="4872442"/>
            <a:ext cx="1475084" cy="584775"/>
          </a:xfrm>
          <a:prstGeom prst="rect">
            <a:avLst/>
          </a:prstGeom>
          <a:noFill/>
        </p:spPr>
        <p:txBody>
          <a:bodyPr wrap="none" rtlCol="0">
            <a:spAutoFit/>
          </a:bodyPr>
          <a:lstStyle/>
          <a:p>
            <a:r>
              <a:rPr lang="es-ES" sz="3200" err="1"/>
              <a:t>Activity</a:t>
            </a:r>
            <a:endParaRPr lang="en-GB"/>
          </a:p>
        </p:txBody>
      </p:sp>
      <p:cxnSp>
        <p:nvCxnSpPr>
          <p:cNvPr id="13" name="Straight Arrow Connector 12">
            <a:extLst>
              <a:ext uri="{FF2B5EF4-FFF2-40B4-BE49-F238E27FC236}">
                <a16:creationId xmlns:a16="http://schemas.microsoft.com/office/drawing/2014/main" id="{CDA1ADBF-350F-CAD0-A858-CCEA6C6A06A6}"/>
              </a:ext>
            </a:extLst>
          </p:cNvPr>
          <p:cNvCxnSpPr>
            <a:cxnSpLocks/>
          </p:cNvCxnSpPr>
          <p:nvPr/>
        </p:nvCxnSpPr>
        <p:spPr>
          <a:xfrm flipV="1">
            <a:off x="6363322" y="1798320"/>
            <a:ext cx="1208287" cy="11106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33A28CA-E4A2-0457-EB57-80E5248E5F7F}"/>
              </a:ext>
            </a:extLst>
          </p:cNvPr>
          <p:cNvCxnSpPr>
            <a:cxnSpLocks/>
          </p:cNvCxnSpPr>
          <p:nvPr/>
        </p:nvCxnSpPr>
        <p:spPr>
          <a:xfrm flipV="1">
            <a:off x="6622393" y="9065059"/>
            <a:ext cx="1138437" cy="10464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F7BF7DE-E8B5-DEF7-5F82-CC8F26A92CD8}"/>
              </a:ext>
            </a:extLst>
          </p:cNvPr>
          <p:cNvCxnSpPr>
            <a:cxnSpLocks/>
          </p:cNvCxnSpPr>
          <p:nvPr/>
        </p:nvCxnSpPr>
        <p:spPr>
          <a:xfrm flipV="1">
            <a:off x="7566849" y="9537296"/>
            <a:ext cx="569219" cy="5232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19D9ABE-FF66-389E-60D7-3DBD756D4C12}"/>
              </a:ext>
            </a:extLst>
          </p:cNvPr>
          <p:cNvSpPr txBox="1"/>
          <p:nvPr/>
        </p:nvSpPr>
        <p:spPr>
          <a:xfrm>
            <a:off x="7592890" y="1579599"/>
            <a:ext cx="1689886" cy="584775"/>
          </a:xfrm>
          <a:prstGeom prst="rect">
            <a:avLst/>
          </a:prstGeom>
          <a:noFill/>
        </p:spPr>
        <p:txBody>
          <a:bodyPr wrap="none" rtlCol="0">
            <a:spAutoFit/>
          </a:bodyPr>
          <a:lstStyle/>
          <a:p>
            <a:r>
              <a:rPr lang="es-ES" sz="3200"/>
              <a:t>Dominio</a:t>
            </a:r>
            <a:endParaRPr lang="en-GB" sz="3200"/>
          </a:p>
        </p:txBody>
      </p:sp>
      <p:sp>
        <p:nvSpPr>
          <p:cNvPr id="17" name="TextBox 16">
            <a:extLst>
              <a:ext uri="{FF2B5EF4-FFF2-40B4-BE49-F238E27FC236}">
                <a16:creationId xmlns:a16="http://schemas.microsoft.com/office/drawing/2014/main" id="{4A8C902E-5255-D386-F71E-2323F06D5C37}"/>
              </a:ext>
            </a:extLst>
          </p:cNvPr>
          <p:cNvSpPr txBox="1"/>
          <p:nvPr/>
        </p:nvSpPr>
        <p:spPr>
          <a:xfrm>
            <a:off x="7783199" y="8793347"/>
            <a:ext cx="2027735" cy="338554"/>
          </a:xfrm>
          <a:prstGeom prst="rect">
            <a:avLst/>
          </a:prstGeom>
          <a:noFill/>
        </p:spPr>
        <p:txBody>
          <a:bodyPr wrap="none" rtlCol="0">
            <a:spAutoFit/>
          </a:bodyPr>
          <a:lstStyle/>
          <a:p>
            <a:r>
              <a:rPr lang="es-ES" sz="1600"/>
              <a:t>Adaptadores Interfaz</a:t>
            </a:r>
            <a:endParaRPr lang="en-GB" sz="1600"/>
          </a:p>
        </p:txBody>
      </p:sp>
      <p:sp>
        <p:nvSpPr>
          <p:cNvPr id="18" name="TextBox 17">
            <a:extLst>
              <a:ext uri="{FF2B5EF4-FFF2-40B4-BE49-F238E27FC236}">
                <a16:creationId xmlns:a16="http://schemas.microsoft.com/office/drawing/2014/main" id="{26FF0E62-B050-258D-74E8-D8A91F7A750F}"/>
              </a:ext>
            </a:extLst>
          </p:cNvPr>
          <p:cNvSpPr txBox="1"/>
          <p:nvPr/>
        </p:nvSpPr>
        <p:spPr>
          <a:xfrm>
            <a:off x="8179205" y="9301257"/>
            <a:ext cx="1309910" cy="338554"/>
          </a:xfrm>
          <a:prstGeom prst="rect">
            <a:avLst/>
          </a:prstGeom>
          <a:noFill/>
        </p:spPr>
        <p:txBody>
          <a:bodyPr wrap="none" rtlCol="0">
            <a:spAutoFit/>
          </a:bodyPr>
          <a:lstStyle/>
          <a:p>
            <a:r>
              <a:rPr lang="it-IT" sz="1600"/>
              <a:t>Frameworks</a:t>
            </a:r>
            <a:endParaRPr lang="en-GB" sz="1600"/>
          </a:p>
        </p:txBody>
      </p:sp>
    </p:spTree>
    <p:extLst>
      <p:ext uri="{BB962C8B-B14F-4D97-AF65-F5344CB8AC3E}">
        <p14:creationId xmlns:p14="http://schemas.microsoft.com/office/powerpoint/2010/main" val="14225654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1821D-1FAE-620B-C292-E28255BD28D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EC71F0D-2648-DB54-675F-3B9844D05E3E}"/>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EBDE78FF-5945-971F-704A-6844EA5A695C}"/>
              </a:ext>
            </a:extLst>
          </p:cNvPr>
          <p:cNvSpPr/>
          <p:nvPr/>
        </p:nvSpPr>
        <p:spPr>
          <a:xfrm rot="5400000">
            <a:off x="7787188" y="1438636"/>
            <a:ext cx="9172037" cy="3032301"/>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D73315D5-C83F-0E3B-E1DA-FAAB6EC816DC}"/>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1F37938C-EE24-81C8-B534-EBB18A1CB774}"/>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Arquitectura - </a:t>
            </a:r>
            <a:r>
              <a:rPr lang="es-ES" sz="6600" b="1" err="1">
                <a:solidFill>
                  <a:schemeClr val="accent1"/>
                </a:solidFill>
                <a:latin typeface="+mj-lt"/>
                <a:cs typeface="Aharoni" panose="02010803020104030203" pitchFamily="2" charset="-79"/>
              </a:rPr>
              <a:t>Clean</a:t>
            </a:r>
            <a:endParaRPr lang="en-GB" sz="6600" b="1">
              <a:solidFill>
                <a:schemeClr val="accent1"/>
              </a:solidFill>
              <a:latin typeface="+mj-lt"/>
              <a:cs typeface="Aharoni" panose="02010803020104030203" pitchFamily="2" charset="-79"/>
            </a:endParaRPr>
          </a:p>
        </p:txBody>
      </p:sp>
      <p:sp>
        <p:nvSpPr>
          <p:cNvPr id="15" name="Oval 14">
            <a:extLst>
              <a:ext uri="{FF2B5EF4-FFF2-40B4-BE49-F238E27FC236}">
                <a16:creationId xmlns:a16="http://schemas.microsoft.com/office/drawing/2014/main" id="{D0A4ECAC-78AD-51AD-1EEC-111BB4C4AFF2}"/>
              </a:ext>
            </a:extLst>
          </p:cNvPr>
          <p:cNvSpPr/>
          <p:nvPr/>
        </p:nvSpPr>
        <p:spPr>
          <a:xfrm>
            <a:off x="4690376" y="3147757"/>
            <a:ext cx="1756928" cy="1756928"/>
          </a:xfrm>
          <a:prstGeom prst="ellipse">
            <a:avLst/>
          </a:prstGeom>
          <a:solidFill>
            <a:srgbClr val="55D76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CAD24768-CEAA-22AE-69D2-4F8162749A8E}"/>
              </a:ext>
            </a:extLst>
          </p:cNvPr>
          <p:cNvSpPr/>
          <p:nvPr/>
        </p:nvSpPr>
        <p:spPr>
          <a:xfrm>
            <a:off x="3091131" y="1781096"/>
            <a:ext cx="4796889" cy="4796889"/>
          </a:xfrm>
          <a:prstGeom prst="ellipse">
            <a:avLst/>
          </a:prstGeom>
          <a:solidFill>
            <a:srgbClr val="A7FBAB"/>
          </a:solidFill>
          <a:ln>
            <a:solidFill>
              <a:srgbClr val="A7FB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C627D9E8-D8A2-6CD2-3607-4C5EA76AB90C}"/>
              </a:ext>
            </a:extLst>
          </p:cNvPr>
          <p:cNvSpPr/>
          <p:nvPr/>
        </p:nvSpPr>
        <p:spPr>
          <a:xfrm>
            <a:off x="4228856" y="2807774"/>
            <a:ext cx="2521439" cy="252143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7BB04EEA-36F0-BFD9-472F-5149860C40F1}"/>
              </a:ext>
            </a:extLst>
          </p:cNvPr>
          <p:cNvSpPr txBox="1"/>
          <p:nvPr/>
        </p:nvSpPr>
        <p:spPr>
          <a:xfrm>
            <a:off x="4535518" y="3464560"/>
            <a:ext cx="608180" cy="400110"/>
          </a:xfrm>
          <a:prstGeom prst="rect">
            <a:avLst/>
          </a:prstGeom>
          <a:noFill/>
        </p:spPr>
        <p:txBody>
          <a:bodyPr wrap="none" rtlCol="0">
            <a:spAutoFit/>
          </a:bodyPr>
          <a:lstStyle/>
          <a:p>
            <a:r>
              <a:rPr lang="es-ES" sz="2000"/>
              <a:t>Site</a:t>
            </a:r>
            <a:endParaRPr lang="en-GB" sz="2000"/>
          </a:p>
        </p:txBody>
      </p:sp>
      <p:sp>
        <p:nvSpPr>
          <p:cNvPr id="8" name="TextBox 7">
            <a:extLst>
              <a:ext uri="{FF2B5EF4-FFF2-40B4-BE49-F238E27FC236}">
                <a16:creationId xmlns:a16="http://schemas.microsoft.com/office/drawing/2014/main" id="{A73FF4E3-8377-EDB9-86DB-E8DB4922111F}"/>
              </a:ext>
            </a:extLst>
          </p:cNvPr>
          <p:cNvSpPr txBox="1"/>
          <p:nvPr/>
        </p:nvSpPr>
        <p:spPr>
          <a:xfrm>
            <a:off x="4508794" y="4068494"/>
            <a:ext cx="1071384" cy="400110"/>
          </a:xfrm>
          <a:prstGeom prst="rect">
            <a:avLst/>
          </a:prstGeom>
          <a:noFill/>
        </p:spPr>
        <p:txBody>
          <a:bodyPr wrap="square" rtlCol="0">
            <a:spAutoFit/>
          </a:bodyPr>
          <a:lstStyle/>
          <a:p>
            <a:r>
              <a:rPr lang="es-ES" sz="2000" err="1"/>
              <a:t>Trip</a:t>
            </a:r>
            <a:endParaRPr lang="en-GB" sz="2000"/>
          </a:p>
        </p:txBody>
      </p:sp>
      <p:sp>
        <p:nvSpPr>
          <p:cNvPr id="9" name="TextBox 8">
            <a:extLst>
              <a:ext uri="{FF2B5EF4-FFF2-40B4-BE49-F238E27FC236}">
                <a16:creationId xmlns:a16="http://schemas.microsoft.com/office/drawing/2014/main" id="{BF9699A0-982F-FFE1-555A-921C47E68CA7}"/>
              </a:ext>
            </a:extLst>
          </p:cNvPr>
          <p:cNvSpPr txBox="1"/>
          <p:nvPr/>
        </p:nvSpPr>
        <p:spPr>
          <a:xfrm>
            <a:off x="5055066" y="3779431"/>
            <a:ext cx="1665008" cy="400110"/>
          </a:xfrm>
          <a:prstGeom prst="rect">
            <a:avLst/>
          </a:prstGeom>
          <a:noFill/>
        </p:spPr>
        <p:txBody>
          <a:bodyPr wrap="none" rtlCol="0">
            <a:spAutoFit/>
          </a:bodyPr>
          <a:lstStyle/>
          <a:p>
            <a:r>
              <a:rPr lang="es-ES" sz="2000" err="1"/>
              <a:t>GuideAnswer</a:t>
            </a:r>
            <a:endParaRPr lang="en-GB" sz="2000"/>
          </a:p>
        </p:txBody>
      </p:sp>
      <p:sp>
        <p:nvSpPr>
          <p:cNvPr id="10" name="TextBox 9">
            <a:extLst>
              <a:ext uri="{FF2B5EF4-FFF2-40B4-BE49-F238E27FC236}">
                <a16:creationId xmlns:a16="http://schemas.microsoft.com/office/drawing/2014/main" id="{48BDF720-C723-DD70-F61D-3BF25121B2E7}"/>
              </a:ext>
            </a:extLst>
          </p:cNvPr>
          <p:cNvSpPr txBox="1"/>
          <p:nvPr/>
        </p:nvSpPr>
        <p:spPr>
          <a:xfrm>
            <a:off x="5489576" y="4357557"/>
            <a:ext cx="989373" cy="400110"/>
          </a:xfrm>
          <a:prstGeom prst="rect">
            <a:avLst/>
          </a:prstGeom>
          <a:noFill/>
        </p:spPr>
        <p:txBody>
          <a:bodyPr wrap="none" rtlCol="0">
            <a:spAutoFit/>
          </a:bodyPr>
          <a:lstStyle/>
          <a:p>
            <a:r>
              <a:rPr lang="es-ES" sz="2000" err="1"/>
              <a:t>Activity</a:t>
            </a:r>
            <a:endParaRPr lang="en-GB" sz="2000"/>
          </a:p>
        </p:txBody>
      </p:sp>
      <p:sp>
        <p:nvSpPr>
          <p:cNvPr id="12" name="TextBox 11">
            <a:extLst>
              <a:ext uri="{FF2B5EF4-FFF2-40B4-BE49-F238E27FC236}">
                <a16:creationId xmlns:a16="http://schemas.microsoft.com/office/drawing/2014/main" id="{E086BF6C-642C-931C-ACC6-82481E16F588}"/>
              </a:ext>
            </a:extLst>
          </p:cNvPr>
          <p:cNvSpPr txBox="1"/>
          <p:nvPr/>
        </p:nvSpPr>
        <p:spPr>
          <a:xfrm>
            <a:off x="3614369" y="2518712"/>
            <a:ext cx="1529329" cy="400110"/>
          </a:xfrm>
          <a:prstGeom prst="rect">
            <a:avLst/>
          </a:prstGeom>
          <a:noFill/>
        </p:spPr>
        <p:txBody>
          <a:bodyPr wrap="none" rtlCol="0">
            <a:spAutoFit/>
          </a:bodyPr>
          <a:lstStyle/>
          <a:p>
            <a:r>
              <a:rPr lang="es-ES" sz="2000" err="1"/>
              <a:t>ViewModels</a:t>
            </a:r>
            <a:endParaRPr lang="en-GB" sz="2000"/>
          </a:p>
        </p:txBody>
      </p:sp>
      <p:sp>
        <p:nvSpPr>
          <p:cNvPr id="13" name="TextBox 12">
            <a:extLst>
              <a:ext uri="{FF2B5EF4-FFF2-40B4-BE49-F238E27FC236}">
                <a16:creationId xmlns:a16="http://schemas.microsoft.com/office/drawing/2014/main" id="{DFB04394-CD41-0638-C06B-69B43FCF5048}"/>
              </a:ext>
            </a:extLst>
          </p:cNvPr>
          <p:cNvSpPr txBox="1"/>
          <p:nvPr/>
        </p:nvSpPr>
        <p:spPr>
          <a:xfrm>
            <a:off x="5887570" y="5418220"/>
            <a:ext cx="1358385" cy="400110"/>
          </a:xfrm>
          <a:prstGeom prst="rect">
            <a:avLst/>
          </a:prstGeom>
          <a:noFill/>
        </p:spPr>
        <p:txBody>
          <a:bodyPr wrap="none" rtlCol="0">
            <a:spAutoFit/>
          </a:bodyPr>
          <a:lstStyle/>
          <a:p>
            <a:r>
              <a:rPr lang="es-ES" sz="2000" err="1"/>
              <a:t>Fragments</a:t>
            </a:r>
            <a:endParaRPr lang="en-GB" sz="2000"/>
          </a:p>
        </p:txBody>
      </p:sp>
      <p:sp>
        <p:nvSpPr>
          <p:cNvPr id="14" name="TextBox 13">
            <a:extLst>
              <a:ext uri="{FF2B5EF4-FFF2-40B4-BE49-F238E27FC236}">
                <a16:creationId xmlns:a16="http://schemas.microsoft.com/office/drawing/2014/main" id="{D8E16EDB-813E-2F5F-450A-968B50A8ADCA}"/>
              </a:ext>
            </a:extLst>
          </p:cNvPr>
          <p:cNvSpPr txBox="1"/>
          <p:nvPr/>
        </p:nvSpPr>
        <p:spPr>
          <a:xfrm>
            <a:off x="3710047" y="5243974"/>
            <a:ext cx="1194558" cy="400110"/>
          </a:xfrm>
          <a:prstGeom prst="rect">
            <a:avLst/>
          </a:prstGeom>
          <a:noFill/>
        </p:spPr>
        <p:txBody>
          <a:bodyPr wrap="none" rtlCol="0">
            <a:spAutoFit/>
          </a:bodyPr>
          <a:lstStyle/>
          <a:p>
            <a:r>
              <a:rPr lang="es-ES" sz="2000" err="1"/>
              <a:t>Activities</a:t>
            </a:r>
            <a:endParaRPr lang="en-GB" sz="2000"/>
          </a:p>
        </p:txBody>
      </p:sp>
      <p:cxnSp>
        <p:nvCxnSpPr>
          <p:cNvPr id="17" name="Straight Arrow Connector 16">
            <a:extLst>
              <a:ext uri="{FF2B5EF4-FFF2-40B4-BE49-F238E27FC236}">
                <a16:creationId xmlns:a16="http://schemas.microsoft.com/office/drawing/2014/main" id="{3FBE495E-3A75-3232-7788-5B33D8E3B699}"/>
              </a:ext>
            </a:extLst>
          </p:cNvPr>
          <p:cNvCxnSpPr>
            <a:cxnSpLocks/>
          </p:cNvCxnSpPr>
          <p:nvPr/>
        </p:nvCxnSpPr>
        <p:spPr>
          <a:xfrm flipH="1">
            <a:off x="6415274" y="3779431"/>
            <a:ext cx="609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49CC46A-C231-C6F6-9014-EF0D2F1898F5}"/>
              </a:ext>
            </a:extLst>
          </p:cNvPr>
          <p:cNvCxnSpPr>
            <a:cxnSpLocks/>
          </p:cNvCxnSpPr>
          <p:nvPr/>
        </p:nvCxnSpPr>
        <p:spPr>
          <a:xfrm flipV="1">
            <a:off x="5932139" y="1798320"/>
            <a:ext cx="1639470" cy="154742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3B76180-2343-8503-EDAF-8AE3CD79A67E}"/>
              </a:ext>
            </a:extLst>
          </p:cNvPr>
          <p:cNvCxnSpPr>
            <a:cxnSpLocks/>
          </p:cNvCxnSpPr>
          <p:nvPr/>
        </p:nvCxnSpPr>
        <p:spPr>
          <a:xfrm flipV="1">
            <a:off x="7024874" y="2410904"/>
            <a:ext cx="712510" cy="6549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DA42AC3-E6BD-C3E4-6573-82023300C845}"/>
              </a:ext>
            </a:extLst>
          </p:cNvPr>
          <p:cNvCxnSpPr>
            <a:cxnSpLocks/>
          </p:cNvCxnSpPr>
          <p:nvPr/>
        </p:nvCxnSpPr>
        <p:spPr>
          <a:xfrm flipV="1">
            <a:off x="7592890" y="9066507"/>
            <a:ext cx="569219" cy="5232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9667E5D-BE75-FD31-A1A5-9E98CF2D9614}"/>
              </a:ext>
            </a:extLst>
          </p:cNvPr>
          <p:cNvSpPr txBox="1"/>
          <p:nvPr/>
        </p:nvSpPr>
        <p:spPr>
          <a:xfrm>
            <a:off x="7592890" y="1579599"/>
            <a:ext cx="1345632" cy="400110"/>
          </a:xfrm>
          <a:prstGeom prst="rect">
            <a:avLst/>
          </a:prstGeom>
          <a:noFill/>
        </p:spPr>
        <p:txBody>
          <a:bodyPr wrap="square" rtlCol="0">
            <a:spAutoFit/>
          </a:bodyPr>
          <a:lstStyle/>
          <a:p>
            <a:r>
              <a:rPr lang="es-ES" sz="2000"/>
              <a:t>Dominio</a:t>
            </a:r>
            <a:endParaRPr lang="en-GB" sz="2000"/>
          </a:p>
        </p:txBody>
      </p:sp>
      <p:sp>
        <p:nvSpPr>
          <p:cNvPr id="22" name="TextBox 21">
            <a:extLst>
              <a:ext uri="{FF2B5EF4-FFF2-40B4-BE49-F238E27FC236}">
                <a16:creationId xmlns:a16="http://schemas.microsoft.com/office/drawing/2014/main" id="{0FEE4896-7EE1-C049-A9E0-8AF08664C0BB}"/>
              </a:ext>
            </a:extLst>
          </p:cNvPr>
          <p:cNvSpPr txBox="1"/>
          <p:nvPr/>
        </p:nvSpPr>
        <p:spPr>
          <a:xfrm>
            <a:off x="7759753" y="2139192"/>
            <a:ext cx="2898794" cy="400110"/>
          </a:xfrm>
          <a:prstGeom prst="rect">
            <a:avLst/>
          </a:prstGeom>
          <a:noFill/>
        </p:spPr>
        <p:txBody>
          <a:bodyPr wrap="square" rtlCol="0">
            <a:spAutoFit/>
          </a:bodyPr>
          <a:lstStyle/>
          <a:p>
            <a:r>
              <a:rPr lang="es-ES" sz="2000"/>
              <a:t>Adaptadores Interfaz</a:t>
            </a:r>
            <a:endParaRPr lang="en-GB" sz="2000"/>
          </a:p>
        </p:txBody>
      </p:sp>
      <p:sp>
        <p:nvSpPr>
          <p:cNvPr id="23" name="TextBox 22">
            <a:extLst>
              <a:ext uri="{FF2B5EF4-FFF2-40B4-BE49-F238E27FC236}">
                <a16:creationId xmlns:a16="http://schemas.microsoft.com/office/drawing/2014/main" id="{A74A92EF-20D7-16C0-FB51-4801427BD254}"/>
              </a:ext>
            </a:extLst>
          </p:cNvPr>
          <p:cNvSpPr txBox="1"/>
          <p:nvPr/>
        </p:nvSpPr>
        <p:spPr>
          <a:xfrm>
            <a:off x="8205246" y="8830468"/>
            <a:ext cx="1309910" cy="338554"/>
          </a:xfrm>
          <a:prstGeom prst="rect">
            <a:avLst/>
          </a:prstGeom>
          <a:noFill/>
        </p:spPr>
        <p:txBody>
          <a:bodyPr wrap="none" rtlCol="0">
            <a:spAutoFit/>
          </a:bodyPr>
          <a:lstStyle/>
          <a:p>
            <a:r>
              <a:rPr lang="it-IT" sz="1600"/>
              <a:t>Frameworks</a:t>
            </a:r>
            <a:endParaRPr lang="en-GB" sz="1600"/>
          </a:p>
        </p:txBody>
      </p:sp>
    </p:spTree>
    <p:extLst>
      <p:ext uri="{BB962C8B-B14F-4D97-AF65-F5344CB8AC3E}">
        <p14:creationId xmlns:p14="http://schemas.microsoft.com/office/powerpoint/2010/main" val="16600223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9480D-7737-FC36-6536-37B89319D25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C6BC49F-77B0-FADB-1519-49B787D202F2}"/>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B6C6E808-B0BC-1909-B064-883D668A36D0}"/>
              </a:ext>
            </a:extLst>
          </p:cNvPr>
          <p:cNvSpPr/>
          <p:nvPr/>
        </p:nvSpPr>
        <p:spPr>
          <a:xfrm rot="5400000">
            <a:off x="7787188" y="1438636"/>
            <a:ext cx="9172037" cy="3032301"/>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25128347-7552-7DB7-4E05-F0AD8CF76CAF}"/>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2492AD7C-AD2C-F730-A1B7-A348E14FD67C}"/>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Arquitectura - </a:t>
            </a:r>
            <a:r>
              <a:rPr lang="es-ES" sz="6600" b="1" err="1">
                <a:solidFill>
                  <a:schemeClr val="accent1"/>
                </a:solidFill>
                <a:latin typeface="+mj-lt"/>
                <a:cs typeface="Aharoni" panose="02010803020104030203" pitchFamily="2" charset="-79"/>
              </a:rPr>
              <a:t>Clean</a:t>
            </a:r>
            <a:endParaRPr lang="en-GB" sz="6600" b="1">
              <a:solidFill>
                <a:schemeClr val="accent1"/>
              </a:solidFill>
              <a:latin typeface="+mj-lt"/>
              <a:cs typeface="Aharoni" panose="02010803020104030203" pitchFamily="2" charset="-79"/>
            </a:endParaRPr>
          </a:p>
        </p:txBody>
      </p:sp>
      <p:sp>
        <p:nvSpPr>
          <p:cNvPr id="15" name="Oval 14">
            <a:extLst>
              <a:ext uri="{FF2B5EF4-FFF2-40B4-BE49-F238E27FC236}">
                <a16:creationId xmlns:a16="http://schemas.microsoft.com/office/drawing/2014/main" id="{FF433554-0F45-4063-A0E7-725A03628E76}"/>
              </a:ext>
            </a:extLst>
          </p:cNvPr>
          <p:cNvSpPr/>
          <p:nvPr/>
        </p:nvSpPr>
        <p:spPr>
          <a:xfrm>
            <a:off x="3127385" y="1684124"/>
            <a:ext cx="4972674" cy="4972674"/>
          </a:xfrm>
          <a:prstGeom prst="ellipse">
            <a:avLst/>
          </a:prstGeom>
          <a:solidFill>
            <a:srgbClr val="55D768"/>
          </a:solidFill>
          <a:ln>
            <a:solidFill>
              <a:srgbClr val="55D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lumMod val="50000"/>
                </a:schemeClr>
              </a:solidFill>
            </a:endParaRPr>
          </a:p>
        </p:txBody>
      </p:sp>
      <p:sp>
        <p:nvSpPr>
          <p:cNvPr id="11" name="Oval 10">
            <a:extLst>
              <a:ext uri="{FF2B5EF4-FFF2-40B4-BE49-F238E27FC236}">
                <a16:creationId xmlns:a16="http://schemas.microsoft.com/office/drawing/2014/main" id="{ED6B378D-B2D7-DD44-C23D-E3EA33463EA2}"/>
              </a:ext>
            </a:extLst>
          </p:cNvPr>
          <p:cNvSpPr/>
          <p:nvPr/>
        </p:nvSpPr>
        <p:spPr>
          <a:xfrm>
            <a:off x="3898608" y="2455346"/>
            <a:ext cx="3430228" cy="3430228"/>
          </a:xfrm>
          <a:prstGeom prst="ellipse">
            <a:avLst/>
          </a:prstGeom>
          <a:solidFill>
            <a:srgbClr val="A7FBAB"/>
          </a:solidFill>
          <a:ln>
            <a:solidFill>
              <a:srgbClr val="A7FB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7550F246-7854-6E4D-E794-A40DC8D933A7}"/>
              </a:ext>
            </a:extLst>
          </p:cNvPr>
          <p:cNvSpPr/>
          <p:nvPr/>
        </p:nvSpPr>
        <p:spPr>
          <a:xfrm>
            <a:off x="4762181" y="3303295"/>
            <a:ext cx="1734331" cy="17343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015CEB50-13AB-FC8A-7E5E-F9B931F016CF}"/>
              </a:ext>
            </a:extLst>
          </p:cNvPr>
          <p:cNvSpPr txBox="1"/>
          <p:nvPr/>
        </p:nvSpPr>
        <p:spPr>
          <a:xfrm>
            <a:off x="4874458" y="3740666"/>
            <a:ext cx="521874" cy="338554"/>
          </a:xfrm>
          <a:prstGeom prst="rect">
            <a:avLst/>
          </a:prstGeom>
          <a:noFill/>
        </p:spPr>
        <p:txBody>
          <a:bodyPr wrap="none" rtlCol="0">
            <a:spAutoFit/>
          </a:bodyPr>
          <a:lstStyle/>
          <a:p>
            <a:r>
              <a:rPr lang="es-ES" sz="1600"/>
              <a:t>Site</a:t>
            </a:r>
            <a:endParaRPr lang="en-GB" sz="1600"/>
          </a:p>
        </p:txBody>
      </p:sp>
      <p:sp>
        <p:nvSpPr>
          <p:cNvPr id="8" name="TextBox 7">
            <a:extLst>
              <a:ext uri="{FF2B5EF4-FFF2-40B4-BE49-F238E27FC236}">
                <a16:creationId xmlns:a16="http://schemas.microsoft.com/office/drawing/2014/main" id="{E9BCD925-F8D2-FB1E-DDE1-F91550168412}"/>
              </a:ext>
            </a:extLst>
          </p:cNvPr>
          <p:cNvSpPr txBox="1"/>
          <p:nvPr/>
        </p:nvSpPr>
        <p:spPr>
          <a:xfrm>
            <a:off x="4824417" y="4170461"/>
            <a:ext cx="1071384" cy="338554"/>
          </a:xfrm>
          <a:prstGeom prst="rect">
            <a:avLst/>
          </a:prstGeom>
          <a:noFill/>
        </p:spPr>
        <p:txBody>
          <a:bodyPr wrap="square" rtlCol="0">
            <a:spAutoFit/>
          </a:bodyPr>
          <a:lstStyle/>
          <a:p>
            <a:r>
              <a:rPr lang="es-ES" sz="1600" err="1"/>
              <a:t>Trip</a:t>
            </a:r>
            <a:endParaRPr lang="en-GB" sz="1600"/>
          </a:p>
        </p:txBody>
      </p:sp>
      <p:sp>
        <p:nvSpPr>
          <p:cNvPr id="9" name="TextBox 8">
            <a:extLst>
              <a:ext uri="{FF2B5EF4-FFF2-40B4-BE49-F238E27FC236}">
                <a16:creationId xmlns:a16="http://schemas.microsoft.com/office/drawing/2014/main" id="{EBA83D22-F32C-0940-FCDC-1F2DB6902BE0}"/>
              </a:ext>
            </a:extLst>
          </p:cNvPr>
          <p:cNvSpPr txBox="1"/>
          <p:nvPr/>
        </p:nvSpPr>
        <p:spPr>
          <a:xfrm>
            <a:off x="5174511" y="3917411"/>
            <a:ext cx="1371209" cy="338554"/>
          </a:xfrm>
          <a:prstGeom prst="rect">
            <a:avLst/>
          </a:prstGeom>
          <a:noFill/>
        </p:spPr>
        <p:txBody>
          <a:bodyPr wrap="none" rtlCol="0">
            <a:spAutoFit/>
          </a:bodyPr>
          <a:lstStyle/>
          <a:p>
            <a:r>
              <a:rPr lang="es-ES" sz="1600" err="1"/>
              <a:t>GuideAnswer</a:t>
            </a:r>
            <a:endParaRPr lang="en-GB" sz="1600"/>
          </a:p>
        </p:txBody>
      </p:sp>
      <p:sp>
        <p:nvSpPr>
          <p:cNvPr id="10" name="TextBox 9">
            <a:extLst>
              <a:ext uri="{FF2B5EF4-FFF2-40B4-BE49-F238E27FC236}">
                <a16:creationId xmlns:a16="http://schemas.microsoft.com/office/drawing/2014/main" id="{2804F126-34E8-A848-1D4E-C060AEC03D95}"/>
              </a:ext>
            </a:extLst>
          </p:cNvPr>
          <p:cNvSpPr txBox="1"/>
          <p:nvPr/>
        </p:nvSpPr>
        <p:spPr>
          <a:xfrm>
            <a:off x="5365888" y="4300468"/>
            <a:ext cx="829073" cy="338554"/>
          </a:xfrm>
          <a:prstGeom prst="rect">
            <a:avLst/>
          </a:prstGeom>
          <a:noFill/>
        </p:spPr>
        <p:txBody>
          <a:bodyPr wrap="none" rtlCol="0">
            <a:spAutoFit/>
          </a:bodyPr>
          <a:lstStyle/>
          <a:p>
            <a:r>
              <a:rPr lang="es-ES" sz="1600" err="1"/>
              <a:t>Activity</a:t>
            </a:r>
            <a:endParaRPr lang="en-GB" sz="1600"/>
          </a:p>
        </p:txBody>
      </p:sp>
      <p:sp>
        <p:nvSpPr>
          <p:cNvPr id="12" name="TextBox 11">
            <a:extLst>
              <a:ext uri="{FF2B5EF4-FFF2-40B4-BE49-F238E27FC236}">
                <a16:creationId xmlns:a16="http://schemas.microsoft.com/office/drawing/2014/main" id="{2B7105E1-412E-71AA-477C-C1C8855D34AF}"/>
              </a:ext>
            </a:extLst>
          </p:cNvPr>
          <p:cNvSpPr txBox="1"/>
          <p:nvPr/>
        </p:nvSpPr>
        <p:spPr>
          <a:xfrm>
            <a:off x="4353633" y="2975997"/>
            <a:ext cx="1260089" cy="338554"/>
          </a:xfrm>
          <a:prstGeom prst="rect">
            <a:avLst/>
          </a:prstGeom>
          <a:noFill/>
        </p:spPr>
        <p:txBody>
          <a:bodyPr wrap="none" rtlCol="0">
            <a:spAutoFit/>
          </a:bodyPr>
          <a:lstStyle/>
          <a:p>
            <a:r>
              <a:rPr lang="es-ES" sz="1600" err="1"/>
              <a:t>ViewModels</a:t>
            </a:r>
            <a:endParaRPr lang="en-GB" sz="1600"/>
          </a:p>
        </p:txBody>
      </p:sp>
      <p:sp>
        <p:nvSpPr>
          <p:cNvPr id="13" name="TextBox 12">
            <a:extLst>
              <a:ext uri="{FF2B5EF4-FFF2-40B4-BE49-F238E27FC236}">
                <a16:creationId xmlns:a16="http://schemas.microsoft.com/office/drawing/2014/main" id="{F5F0157D-0A6B-1B19-5F87-6043DF6B733E}"/>
              </a:ext>
            </a:extLst>
          </p:cNvPr>
          <p:cNvSpPr txBox="1"/>
          <p:nvPr/>
        </p:nvSpPr>
        <p:spPr>
          <a:xfrm>
            <a:off x="5626285" y="5045094"/>
            <a:ext cx="1121717" cy="338554"/>
          </a:xfrm>
          <a:prstGeom prst="rect">
            <a:avLst/>
          </a:prstGeom>
          <a:noFill/>
        </p:spPr>
        <p:txBody>
          <a:bodyPr wrap="none" rtlCol="0">
            <a:spAutoFit/>
          </a:bodyPr>
          <a:lstStyle/>
          <a:p>
            <a:r>
              <a:rPr lang="es-ES" sz="1600" err="1"/>
              <a:t>Fragments</a:t>
            </a:r>
            <a:endParaRPr lang="en-GB" sz="1600"/>
          </a:p>
        </p:txBody>
      </p:sp>
      <p:sp>
        <p:nvSpPr>
          <p:cNvPr id="14" name="TextBox 13">
            <a:extLst>
              <a:ext uri="{FF2B5EF4-FFF2-40B4-BE49-F238E27FC236}">
                <a16:creationId xmlns:a16="http://schemas.microsoft.com/office/drawing/2014/main" id="{2E51ED11-5144-CCBF-59AB-C69569C7FA93}"/>
              </a:ext>
            </a:extLst>
          </p:cNvPr>
          <p:cNvSpPr txBox="1"/>
          <p:nvPr/>
        </p:nvSpPr>
        <p:spPr>
          <a:xfrm>
            <a:off x="4243372" y="4995319"/>
            <a:ext cx="992579" cy="338554"/>
          </a:xfrm>
          <a:prstGeom prst="rect">
            <a:avLst/>
          </a:prstGeom>
          <a:noFill/>
        </p:spPr>
        <p:txBody>
          <a:bodyPr wrap="none" rtlCol="0">
            <a:spAutoFit/>
          </a:bodyPr>
          <a:lstStyle/>
          <a:p>
            <a:r>
              <a:rPr lang="es-ES" sz="1600" err="1"/>
              <a:t>Activities</a:t>
            </a:r>
            <a:endParaRPr lang="en-GB" sz="1600"/>
          </a:p>
        </p:txBody>
      </p:sp>
      <p:sp>
        <p:nvSpPr>
          <p:cNvPr id="16" name="TextBox 15">
            <a:extLst>
              <a:ext uri="{FF2B5EF4-FFF2-40B4-BE49-F238E27FC236}">
                <a16:creationId xmlns:a16="http://schemas.microsoft.com/office/drawing/2014/main" id="{64318405-475D-F142-A32A-9F239497A228}"/>
              </a:ext>
            </a:extLst>
          </p:cNvPr>
          <p:cNvSpPr txBox="1"/>
          <p:nvPr/>
        </p:nvSpPr>
        <p:spPr>
          <a:xfrm>
            <a:off x="5396083" y="2064432"/>
            <a:ext cx="1371273" cy="338554"/>
          </a:xfrm>
          <a:prstGeom prst="rect">
            <a:avLst/>
          </a:prstGeom>
          <a:noFill/>
        </p:spPr>
        <p:txBody>
          <a:bodyPr wrap="none" rtlCol="0">
            <a:spAutoFit/>
          </a:bodyPr>
          <a:lstStyle/>
          <a:p>
            <a:r>
              <a:rPr lang="es-ES" sz="1600" err="1"/>
              <a:t>DataConnect</a:t>
            </a:r>
            <a:endParaRPr lang="en-GB" sz="1600"/>
          </a:p>
        </p:txBody>
      </p:sp>
      <p:sp>
        <p:nvSpPr>
          <p:cNvPr id="17" name="TextBox 16">
            <a:extLst>
              <a:ext uri="{FF2B5EF4-FFF2-40B4-BE49-F238E27FC236}">
                <a16:creationId xmlns:a16="http://schemas.microsoft.com/office/drawing/2014/main" id="{C39F8E46-4D09-6A14-7CF5-6E0C24DDFF98}"/>
              </a:ext>
            </a:extLst>
          </p:cNvPr>
          <p:cNvSpPr txBox="1"/>
          <p:nvPr/>
        </p:nvSpPr>
        <p:spPr>
          <a:xfrm>
            <a:off x="4061318" y="2090612"/>
            <a:ext cx="1074077" cy="338554"/>
          </a:xfrm>
          <a:prstGeom prst="rect">
            <a:avLst/>
          </a:prstGeom>
          <a:noFill/>
        </p:spPr>
        <p:txBody>
          <a:bodyPr wrap="none" rtlCol="0">
            <a:spAutoFit/>
          </a:bodyPr>
          <a:lstStyle/>
          <a:p>
            <a:r>
              <a:rPr lang="es-ES" sz="1600" err="1"/>
              <a:t>DataStore</a:t>
            </a:r>
            <a:endParaRPr lang="en-GB" sz="1600"/>
          </a:p>
        </p:txBody>
      </p:sp>
      <p:cxnSp>
        <p:nvCxnSpPr>
          <p:cNvPr id="18" name="Straight Arrow Connector 17">
            <a:extLst>
              <a:ext uri="{FF2B5EF4-FFF2-40B4-BE49-F238E27FC236}">
                <a16:creationId xmlns:a16="http://schemas.microsoft.com/office/drawing/2014/main" id="{AEDAA62E-DCDE-E2B7-F645-0ECB3A2DA44F}"/>
              </a:ext>
            </a:extLst>
          </p:cNvPr>
          <p:cNvCxnSpPr>
            <a:cxnSpLocks/>
          </p:cNvCxnSpPr>
          <p:nvPr/>
        </p:nvCxnSpPr>
        <p:spPr>
          <a:xfrm flipH="1">
            <a:off x="6147125" y="3917411"/>
            <a:ext cx="5686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D1A77B7-FA73-09FB-F4B6-DA29852EC4DE}"/>
              </a:ext>
            </a:extLst>
          </p:cNvPr>
          <p:cNvCxnSpPr>
            <a:cxnSpLocks/>
          </p:cNvCxnSpPr>
          <p:nvPr/>
        </p:nvCxnSpPr>
        <p:spPr>
          <a:xfrm flipH="1">
            <a:off x="7086063" y="3917411"/>
            <a:ext cx="4855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F24AA49-68F6-C175-8EF3-0A9FA0459308}"/>
              </a:ext>
            </a:extLst>
          </p:cNvPr>
          <p:cNvSpPr txBox="1"/>
          <p:nvPr/>
        </p:nvSpPr>
        <p:spPr>
          <a:xfrm>
            <a:off x="5780423" y="5900492"/>
            <a:ext cx="1299330" cy="338554"/>
          </a:xfrm>
          <a:prstGeom prst="rect">
            <a:avLst/>
          </a:prstGeom>
          <a:noFill/>
        </p:spPr>
        <p:txBody>
          <a:bodyPr wrap="none" rtlCol="0">
            <a:spAutoFit/>
          </a:bodyPr>
          <a:lstStyle/>
          <a:p>
            <a:r>
              <a:rPr lang="es-ES" sz="1600" err="1"/>
              <a:t>Repositories</a:t>
            </a:r>
            <a:endParaRPr lang="en-GB" sz="1600"/>
          </a:p>
        </p:txBody>
      </p:sp>
      <p:sp>
        <p:nvSpPr>
          <p:cNvPr id="20" name="TextBox 19">
            <a:extLst>
              <a:ext uri="{FF2B5EF4-FFF2-40B4-BE49-F238E27FC236}">
                <a16:creationId xmlns:a16="http://schemas.microsoft.com/office/drawing/2014/main" id="{56754DA9-C9B7-D012-558C-627A9C5348AE}"/>
              </a:ext>
            </a:extLst>
          </p:cNvPr>
          <p:cNvSpPr txBox="1"/>
          <p:nvPr/>
        </p:nvSpPr>
        <p:spPr>
          <a:xfrm>
            <a:off x="4411887" y="6062319"/>
            <a:ext cx="1315553" cy="338554"/>
          </a:xfrm>
          <a:prstGeom prst="rect">
            <a:avLst/>
          </a:prstGeom>
          <a:noFill/>
        </p:spPr>
        <p:txBody>
          <a:bodyPr wrap="none" rtlCol="0">
            <a:spAutoFit/>
          </a:bodyPr>
          <a:lstStyle/>
          <a:p>
            <a:r>
              <a:rPr lang="es-ES" sz="1600" err="1"/>
              <a:t>Datasources</a:t>
            </a:r>
            <a:endParaRPr lang="en-GB" sz="1600"/>
          </a:p>
        </p:txBody>
      </p:sp>
      <p:cxnSp>
        <p:nvCxnSpPr>
          <p:cNvPr id="23" name="Straight Arrow Connector 22">
            <a:extLst>
              <a:ext uri="{FF2B5EF4-FFF2-40B4-BE49-F238E27FC236}">
                <a16:creationId xmlns:a16="http://schemas.microsoft.com/office/drawing/2014/main" id="{1C2A43D7-AF46-5FC3-618B-E2993305CC7A}"/>
              </a:ext>
            </a:extLst>
          </p:cNvPr>
          <p:cNvCxnSpPr>
            <a:cxnSpLocks/>
          </p:cNvCxnSpPr>
          <p:nvPr/>
        </p:nvCxnSpPr>
        <p:spPr>
          <a:xfrm flipV="1">
            <a:off x="5626285" y="1798320"/>
            <a:ext cx="1945324" cy="17881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2EA27FE-C88C-CCFE-1859-409DAA4B1E09}"/>
              </a:ext>
            </a:extLst>
          </p:cNvPr>
          <p:cNvCxnSpPr>
            <a:cxnSpLocks/>
          </p:cNvCxnSpPr>
          <p:nvPr/>
        </p:nvCxnSpPr>
        <p:spPr>
          <a:xfrm flipV="1">
            <a:off x="6598947" y="2410904"/>
            <a:ext cx="1138437" cy="10464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961E8BB-9AA7-2324-2DDF-CBB825CD493B}"/>
              </a:ext>
            </a:extLst>
          </p:cNvPr>
          <p:cNvCxnSpPr>
            <a:cxnSpLocks/>
          </p:cNvCxnSpPr>
          <p:nvPr/>
        </p:nvCxnSpPr>
        <p:spPr>
          <a:xfrm flipV="1">
            <a:off x="7543403" y="2883141"/>
            <a:ext cx="569219" cy="5232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78827CE-973F-9DB6-3FA3-6B73EC8E1661}"/>
              </a:ext>
            </a:extLst>
          </p:cNvPr>
          <p:cNvSpPr txBox="1"/>
          <p:nvPr/>
        </p:nvSpPr>
        <p:spPr>
          <a:xfrm>
            <a:off x="7592890" y="1579599"/>
            <a:ext cx="941283" cy="338554"/>
          </a:xfrm>
          <a:prstGeom prst="rect">
            <a:avLst/>
          </a:prstGeom>
          <a:noFill/>
        </p:spPr>
        <p:txBody>
          <a:bodyPr wrap="none" rtlCol="0">
            <a:spAutoFit/>
          </a:bodyPr>
          <a:lstStyle/>
          <a:p>
            <a:r>
              <a:rPr lang="es-ES" sz="1600"/>
              <a:t>Dominio</a:t>
            </a:r>
            <a:endParaRPr lang="en-GB" sz="1600"/>
          </a:p>
        </p:txBody>
      </p:sp>
      <p:sp>
        <p:nvSpPr>
          <p:cNvPr id="33" name="TextBox 32">
            <a:extLst>
              <a:ext uri="{FF2B5EF4-FFF2-40B4-BE49-F238E27FC236}">
                <a16:creationId xmlns:a16="http://schemas.microsoft.com/office/drawing/2014/main" id="{15483769-3DAC-B43C-29D3-000F0F6D43A0}"/>
              </a:ext>
            </a:extLst>
          </p:cNvPr>
          <p:cNvSpPr txBox="1"/>
          <p:nvPr/>
        </p:nvSpPr>
        <p:spPr>
          <a:xfrm>
            <a:off x="7759753" y="2139192"/>
            <a:ext cx="2027735" cy="338554"/>
          </a:xfrm>
          <a:prstGeom prst="rect">
            <a:avLst/>
          </a:prstGeom>
          <a:noFill/>
        </p:spPr>
        <p:txBody>
          <a:bodyPr wrap="none" rtlCol="0">
            <a:spAutoFit/>
          </a:bodyPr>
          <a:lstStyle/>
          <a:p>
            <a:r>
              <a:rPr lang="es-ES" sz="1600"/>
              <a:t>Adaptadores Interfaz</a:t>
            </a:r>
            <a:endParaRPr lang="en-GB" sz="1600"/>
          </a:p>
        </p:txBody>
      </p:sp>
      <p:sp>
        <p:nvSpPr>
          <p:cNvPr id="34" name="TextBox 33">
            <a:extLst>
              <a:ext uri="{FF2B5EF4-FFF2-40B4-BE49-F238E27FC236}">
                <a16:creationId xmlns:a16="http://schemas.microsoft.com/office/drawing/2014/main" id="{E10660AF-71BE-E17B-D975-E18D2F20C896}"/>
              </a:ext>
            </a:extLst>
          </p:cNvPr>
          <p:cNvSpPr txBox="1"/>
          <p:nvPr/>
        </p:nvSpPr>
        <p:spPr>
          <a:xfrm>
            <a:off x="8155759" y="2647102"/>
            <a:ext cx="1309910" cy="338554"/>
          </a:xfrm>
          <a:prstGeom prst="rect">
            <a:avLst/>
          </a:prstGeom>
          <a:noFill/>
        </p:spPr>
        <p:txBody>
          <a:bodyPr wrap="none" rtlCol="0">
            <a:spAutoFit/>
          </a:bodyPr>
          <a:lstStyle/>
          <a:p>
            <a:r>
              <a:rPr lang="it-IT" sz="1600"/>
              <a:t>Frameworks</a:t>
            </a:r>
            <a:endParaRPr lang="en-GB" sz="1600"/>
          </a:p>
        </p:txBody>
      </p:sp>
    </p:spTree>
    <p:extLst>
      <p:ext uri="{BB962C8B-B14F-4D97-AF65-F5344CB8AC3E}">
        <p14:creationId xmlns:p14="http://schemas.microsoft.com/office/powerpoint/2010/main" val="41286975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5CBE-0C0B-2D29-BC16-3AE2736C9B9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ED37DC1-3840-882F-B31C-86335622974B}"/>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FE517C84-5E03-FC6C-64EB-C3A79F5EE8AF}"/>
              </a:ext>
            </a:extLst>
          </p:cNvPr>
          <p:cNvSpPr/>
          <p:nvPr/>
        </p:nvSpPr>
        <p:spPr>
          <a:xfrm rot="5400000">
            <a:off x="2803258" y="-3545293"/>
            <a:ext cx="9172037" cy="1300016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5391BE5D-0555-DA8B-D735-48FCE5DE1431}"/>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60F92481-AFC8-FB59-63BE-56CAABE1C311}"/>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bg1"/>
                </a:solidFill>
                <a:latin typeface="+mj-lt"/>
                <a:cs typeface="Aharoni" panose="02010803020104030203" pitchFamily="2" charset="-79"/>
              </a:rPr>
              <a:t>Componentes</a:t>
            </a:r>
            <a:endParaRPr lang="en-GB" sz="6600" b="1">
              <a:solidFill>
                <a:schemeClr val="bg1"/>
              </a:solidFill>
              <a:latin typeface="+mj-lt"/>
              <a:cs typeface="Aharoni" panose="02010803020104030203" pitchFamily="2" charset="-79"/>
            </a:endParaRPr>
          </a:p>
        </p:txBody>
      </p:sp>
      <p:grpSp>
        <p:nvGrpSpPr>
          <p:cNvPr id="7" name="Group 6">
            <a:extLst>
              <a:ext uri="{FF2B5EF4-FFF2-40B4-BE49-F238E27FC236}">
                <a16:creationId xmlns:a16="http://schemas.microsoft.com/office/drawing/2014/main" id="{532BB5AD-8CA2-79FD-4A1D-7CFDAA08C726}"/>
              </a:ext>
            </a:extLst>
          </p:cNvPr>
          <p:cNvGrpSpPr/>
          <p:nvPr/>
        </p:nvGrpSpPr>
        <p:grpSpPr>
          <a:xfrm>
            <a:off x="2044492" y="8499407"/>
            <a:ext cx="1341394" cy="2706291"/>
            <a:chOff x="2044492" y="2414349"/>
            <a:chExt cx="1341394" cy="2706291"/>
          </a:xfrm>
        </p:grpSpPr>
        <p:pic>
          <p:nvPicPr>
            <p:cNvPr id="1034" name="Picture 10" descr="18,400+ Phone Transparent Background Stock Illustrations, Royalty-Free  Vector Graphics &amp; Clip Art - iStock | Mobile phone transparent background,  Hand holding phone transparent background, Cell phone transparent background">
              <a:extLst>
                <a:ext uri="{FF2B5EF4-FFF2-40B4-BE49-F238E27FC236}">
                  <a16:creationId xmlns:a16="http://schemas.microsoft.com/office/drawing/2014/main" id="{9A91EF27-A266-3BA4-0A29-7CB406782592}"/>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30654" t="7101" r="29608" b="7458"/>
            <a:stretch/>
          </p:blipFill>
          <p:spPr bwMode="auto">
            <a:xfrm>
              <a:off x="2044492" y="2847514"/>
              <a:ext cx="1081989" cy="22731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ndroid original wordmark logo - Social media &amp; Logos Icons">
              <a:extLst>
                <a:ext uri="{FF2B5EF4-FFF2-40B4-BE49-F238E27FC236}">
                  <a16:creationId xmlns:a16="http://schemas.microsoft.com/office/drawing/2014/main" id="{4A24978D-0E65-393C-697A-75F783F095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946" r="15000" b="16354"/>
            <a:stretch/>
          </p:blipFill>
          <p:spPr bwMode="auto">
            <a:xfrm>
              <a:off x="2639612" y="2414349"/>
              <a:ext cx="746274" cy="8663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ouch Screen Icon Vector Art, Icons, and Graphics for Free Download">
              <a:extLst>
                <a:ext uri="{FF2B5EF4-FFF2-40B4-BE49-F238E27FC236}">
                  <a16:creationId xmlns:a16="http://schemas.microsoft.com/office/drawing/2014/main" id="{B43127EA-E089-1BC6-5526-D0F2726BC8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0473" y="3974278"/>
              <a:ext cx="778277" cy="7108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624195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CECA6-616D-6400-2FE5-F8BEC8B8530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2A7B56-7B0B-9C06-B19D-FECDFF70F4D7}"/>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E19049B7-4EAD-9293-111D-710D5C458A42}"/>
              </a:ext>
            </a:extLst>
          </p:cNvPr>
          <p:cNvSpPr/>
          <p:nvPr/>
        </p:nvSpPr>
        <p:spPr>
          <a:xfrm rot="5400000">
            <a:off x="2803258" y="-3545293"/>
            <a:ext cx="9172037" cy="1300016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28749F39-C68E-C18F-6960-36E0E9B8A264}"/>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B07469BC-A861-4463-4661-0197DB8506EC}"/>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bg1"/>
                </a:solidFill>
                <a:latin typeface="+mj-lt"/>
                <a:cs typeface="Aharoni" panose="02010803020104030203" pitchFamily="2" charset="-79"/>
              </a:rPr>
              <a:t>Componentes</a:t>
            </a:r>
            <a:endParaRPr lang="en-GB" sz="6600" b="1">
              <a:solidFill>
                <a:schemeClr val="bg1"/>
              </a:solidFill>
              <a:latin typeface="+mj-lt"/>
              <a:cs typeface="Aharoni" panose="02010803020104030203" pitchFamily="2" charset="-79"/>
            </a:endParaRPr>
          </a:p>
        </p:txBody>
      </p:sp>
      <p:grpSp>
        <p:nvGrpSpPr>
          <p:cNvPr id="7" name="Group 6">
            <a:extLst>
              <a:ext uri="{FF2B5EF4-FFF2-40B4-BE49-F238E27FC236}">
                <a16:creationId xmlns:a16="http://schemas.microsoft.com/office/drawing/2014/main" id="{E42719D9-5FEA-D393-2AB3-C03FE42DDDB4}"/>
              </a:ext>
            </a:extLst>
          </p:cNvPr>
          <p:cNvGrpSpPr/>
          <p:nvPr/>
        </p:nvGrpSpPr>
        <p:grpSpPr>
          <a:xfrm>
            <a:off x="2044492" y="2450300"/>
            <a:ext cx="1341394" cy="2706291"/>
            <a:chOff x="2044492" y="2414349"/>
            <a:chExt cx="1341394" cy="2706291"/>
          </a:xfrm>
        </p:grpSpPr>
        <p:pic>
          <p:nvPicPr>
            <p:cNvPr id="1034" name="Picture 10" descr="18,400+ Phone Transparent Background Stock Illustrations, Royalty-Free  Vector Graphics &amp; Clip Art - iStock | Mobile phone transparent background,  Hand holding phone transparent background, Cell phone transparent background">
              <a:extLst>
                <a:ext uri="{FF2B5EF4-FFF2-40B4-BE49-F238E27FC236}">
                  <a16:creationId xmlns:a16="http://schemas.microsoft.com/office/drawing/2014/main" id="{A39FCDC7-EC17-5755-DAF5-B64D81F59999}"/>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0654" t="7101" r="29608" b="7458"/>
            <a:stretch/>
          </p:blipFill>
          <p:spPr bwMode="auto">
            <a:xfrm>
              <a:off x="2044492" y="2847514"/>
              <a:ext cx="1081989" cy="22731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ndroid original wordmark logo - Social media &amp; Logos Icons">
              <a:extLst>
                <a:ext uri="{FF2B5EF4-FFF2-40B4-BE49-F238E27FC236}">
                  <a16:creationId xmlns:a16="http://schemas.microsoft.com/office/drawing/2014/main" id="{54318B0B-B1C4-009A-8FFA-692FEA68906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946" r="15000" b="16354"/>
            <a:stretch/>
          </p:blipFill>
          <p:spPr bwMode="auto">
            <a:xfrm>
              <a:off x="2639612" y="2414349"/>
              <a:ext cx="746274" cy="8663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ouch Screen Icon Vector Art, Icons, and Graphics for Free Download">
              <a:extLst>
                <a:ext uri="{FF2B5EF4-FFF2-40B4-BE49-F238E27FC236}">
                  <a16:creationId xmlns:a16="http://schemas.microsoft.com/office/drawing/2014/main" id="{41D5222A-93E2-88F9-E7C6-0CE613653C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0473" y="3974278"/>
              <a:ext cx="778277" cy="7108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 name="Straight Arrow Connector 7">
            <a:extLst>
              <a:ext uri="{FF2B5EF4-FFF2-40B4-BE49-F238E27FC236}">
                <a16:creationId xmlns:a16="http://schemas.microsoft.com/office/drawing/2014/main" id="{1EE0C84D-F4C0-E7D6-3988-40C6DF77E022}"/>
              </a:ext>
            </a:extLst>
          </p:cNvPr>
          <p:cNvCxnSpPr>
            <a:cxnSpLocks/>
          </p:cNvCxnSpPr>
          <p:nvPr/>
        </p:nvCxnSpPr>
        <p:spPr>
          <a:xfrm>
            <a:off x="3596640" y="9143843"/>
            <a:ext cx="196088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056" name="Picture 8" descr="What's new in Firebase at I/O '24 - Google Developers Blog">
            <a:extLst>
              <a:ext uri="{FF2B5EF4-FFF2-40B4-BE49-F238E27FC236}">
                <a16:creationId xmlns:a16="http://schemas.microsoft.com/office/drawing/2014/main" id="{C59CC5C0-B0E1-E4F1-93B4-47E46138E4E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7047" t="2340" r="33555" b="39532"/>
          <a:stretch/>
        </p:blipFill>
        <p:spPr bwMode="auto">
          <a:xfrm>
            <a:off x="5926289" y="8353905"/>
            <a:ext cx="1644606" cy="157987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F13D31FE-D113-5800-64E5-45BB3615B551}"/>
              </a:ext>
            </a:extLst>
          </p:cNvPr>
          <p:cNvCxnSpPr>
            <a:cxnSpLocks/>
          </p:cNvCxnSpPr>
          <p:nvPr/>
        </p:nvCxnSpPr>
        <p:spPr>
          <a:xfrm flipH="1">
            <a:off x="3547557" y="9428323"/>
            <a:ext cx="1938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32248A9-93AE-3305-3AAD-8F77B279AD72}"/>
              </a:ext>
            </a:extLst>
          </p:cNvPr>
          <p:cNvCxnSpPr>
            <a:cxnSpLocks/>
          </p:cNvCxnSpPr>
          <p:nvPr/>
        </p:nvCxnSpPr>
        <p:spPr>
          <a:xfrm>
            <a:off x="7752080" y="9018591"/>
            <a:ext cx="90424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BB3FC19-86EA-965C-4E72-6CABF07C361A}"/>
              </a:ext>
            </a:extLst>
          </p:cNvPr>
          <p:cNvCxnSpPr>
            <a:cxnSpLocks/>
          </p:cNvCxnSpPr>
          <p:nvPr/>
        </p:nvCxnSpPr>
        <p:spPr>
          <a:xfrm flipH="1">
            <a:off x="7702997" y="9303071"/>
            <a:ext cx="922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FAE56ED6-6041-22CF-FB14-930F593975E3}"/>
              </a:ext>
            </a:extLst>
          </p:cNvPr>
          <p:cNvPicPr>
            <a:picLocks noChangeAspect="1"/>
          </p:cNvPicPr>
          <p:nvPr/>
        </p:nvPicPr>
        <p:blipFill>
          <a:blip r:embed="rId8"/>
          <a:stretch>
            <a:fillRect/>
          </a:stretch>
        </p:blipFill>
        <p:spPr>
          <a:xfrm>
            <a:off x="4205650" y="9512392"/>
            <a:ext cx="660400" cy="660400"/>
          </a:xfrm>
          <a:prstGeom prst="rect">
            <a:avLst/>
          </a:prstGeom>
        </p:spPr>
      </p:pic>
      <p:pic>
        <p:nvPicPr>
          <p:cNvPr id="2060" name="Picture 12" descr="PostgreSQL&quot; Icon - Download for free – Iconduck">
            <a:extLst>
              <a:ext uri="{FF2B5EF4-FFF2-40B4-BE49-F238E27FC236}">
                <a16:creationId xmlns:a16="http://schemas.microsoft.com/office/drawing/2014/main" id="{A184E161-885F-86FA-72ED-4BEBC3F0FF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00463" y="8381843"/>
            <a:ext cx="1612761" cy="166240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GraphQL - Wikipedia, la enciclopedia libre">
            <a:extLst>
              <a:ext uri="{FF2B5EF4-FFF2-40B4-BE49-F238E27FC236}">
                <a16:creationId xmlns:a16="http://schemas.microsoft.com/office/drawing/2014/main" id="{BFF9C295-FEFB-91B6-398F-949EFC98A3E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2291" y="7799907"/>
            <a:ext cx="1043175" cy="104317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B483F94-F806-48CF-B785-AECD75A2D40D}"/>
              </a:ext>
            </a:extLst>
          </p:cNvPr>
          <p:cNvSpPr txBox="1"/>
          <p:nvPr/>
        </p:nvSpPr>
        <p:spPr>
          <a:xfrm>
            <a:off x="1808325" y="5545288"/>
            <a:ext cx="1662571" cy="523220"/>
          </a:xfrm>
          <a:prstGeom prst="rect">
            <a:avLst/>
          </a:prstGeom>
          <a:noFill/>
        </p:spPr>
        <p:txBody>
          <a:bodyPr wrap="none" rtlCol="0">
            <a:spAutoFit/>
          </a:bodyPr>
          <a:lstStyle/>
          <a:p>
            <a:r>
              <a:rPr lang="it-IT" sz="2800" b="1" err="1">
                <a:solidFill>
                  <a:schemeClr val="bg1"/>
                </a:solidFill>
              </a:rPr>
              <a:t>Frontend</a:t>
            </a:r>
            <a:endParaRPr lang="en-GB" b="1">
              <a:solidFill>
                <a:schemeClr val="bg1"/>
              </a:solidFill>
            </a:endParaRPr>
          </a:p>
        </p:txBody>
      </p:sp>
      <p:sp>
        <p:nvSpPr>
          <p:cNvPr id="30" name="TextBox 29">
            <a:extLst>
              <a:ext uri="{FF2B5EF4-FFF2-40B4-BE49-F238E27FC236}">
                <a16:creationId xmlns:a16="http://schemas.microsoft.com/office/drawing/2014/main" id="{96DBB919-7F40-E7E7-8BF4-8D881C5CC696}"/>
              </a:ext>
            </a:extLst>
          </p:cNvPr>
          <p:cNvSpPr txBox="1"/>
          <p:nvPr/>
        </p:nvSpPr>
        <p:spPr>
          <a:xfrm>
            <a:off x="5568236" y="10602727"/>
            <a:ext cx="2360710" cy="1384995"/>
          </a:xfrm>
          <a:prstGeom prst="rect">
            <a:avLst/>
          </a:prstGeom>
          <a:noFill/>
        </p:spPr>
        <p:txBody>
          <a:bodyPr wrap="none" rtlCol="0">
            <a:spAutoFit/>
          </a:bodyPr>
          <a:lstStyle/>
          <a:p>
            <a:pPr algn="ctr"/>
            <a:r>
              <a:rPr lang="it-IT" sz="2800" b="1" err="1">
                <a:solidFill>
                  <a:schemeClr val="bg1"/>
                </a:solidFill>
              </a:rPr>
              <a:t>Firebase</a:t>
            </a:r>
            <a:r>
              <a:rPr lang="it-IT" sz="2800" b="1">
                <a:solidFill>
                  <a:schemeClr val="bg1"/>
                </a:solidFill>
              </a:rPr>
              <a:t> </a:t>
            </a:r>
            <a:br>
              <a:rPr lang="it-IT" sz="2800" b="1">
                <a:solidFill>
                  <a:schemeClr val="bg1"/>
                </a:solidFill>
              </a:rPr>
            </a:br>
            <a:r>
              <a:rPr lang="it-IT" sz="2800" b="1" err="1">
                <a:solidFill>
                  <a:schemeClr val="bg1"/>
                </a:solidFill>
              </a:rPr>
              <a:t>DataConnect</a:t>
            </a:r>
            <a:endParaRPr lang="it-IT" sz="2800" b="1">
              <a:solidFill>
                <a:schemeClr val="bg1"/>
              </a:solidFill>
            </a:endParaRPr>
          </a:p>
          <a:p>
            <a:pPr algn="ctr"/>
            <a:r>
              <a:rPr lang="it-IT" sz="2800" b="1">
                <a:solidFill>
                  <a:schemeClr val="bg1"/>
                </a:solidFill>
              </a:rPr>
              <a:t>(</a:t>
            </a:r>
            <a:r>
              <a:rPr lang="it-IT" sz="2800" b="1" err="1">
                <a:solidFill>
                  <a:schemeClr val="bg1"/>
                </a:solidFill>
              </a:rPr>
              <a:t>GraphQL</a:t>
            </a:r>
            <a:r>
              <a:rPr lang="it-IT" sz="2800" b="1">
                <a:solidFill>
                  <a:schemeClr val="bg1"/>
                </a:solidFill>
              </a:rPr>
              <a:t>)</a:t>
            </a:r>
            <a:endParaRPr lang="en-GB" b="1">
              <a:solidFill>
                <a:schemeClr val="bg1"/>
              </a:solidFill>
            </a:endParaRPr>
          </a:p>
        </p:txBody>
      </p:sp>
      <p:sp>
        <p:nvSpPr>
          <p:cNvPr id="32" name="TextBox 31">
            <a:extLst>
              <a:ext uri="{FF2B5EF4-FFF2-40B4-BE49-F238E27FC236}">
                <a16:creationId xmlns:a16="http://schemas.microsoft.com/office/drawing/2014/main" id="{5426B378-46A1-BD74-2B51-70545519AB9B}"/>
              </a:ext>
            </a:extLst>
          </p:cNvPr>
          <p:cNvSpPr txBox="1"/>
          <p:nvPr/>
        </p:nvSpPr>
        <p:spPr>
          <a:xfrm>
            <a:off x="8584525" y="10602727"/>
            <a:ext cx="2087174" cy="954107"/>
          </a:xfrm>
          <a:prstGeom prst="rect">
            <a:avLst/>
          </a:prstGeom>
          <a:noFill/>
        </p:spPr>
        <p:txBody>
          <a:bodyPr wrap="none" rtlCol="0">
            <a:spAutoFit/>
          </a:bodyPr>
          <a:lstStyle/>
          <a:p>
            <a:pPr algn="ctr"/>
            <a:r>
              <a:rPr lang="it-IT" sz="2800" b="1" err="1">
                <a:solidFill>
                  <a:schemeClr val="bg1"/>
                </a:solidFill>
              </a:rPr>
              <a:t>PostgreSQL</a:t>
            </a:r>
            <a:endParaRPr lang="it-IT" sz="2800" b="1">
              <a:solidFill>
                <a:schemeClr val="bg1"/>
              </a:solidFill>
            </a:endParaRPr>
          </a:p>
          <a:p>
            <a:pPr algn="ctr"/>
            <a:r>
              <a:rPr lang="it-IT" sz="2800" b="1" err="1">
                <a:solidFill>
                  <a:schemeClr val="bg1"/>
                </a:solidFill>
              </a:rPr>
              <a:t>instance</a:t>
            </a:r>
            <a:endParaRPr lang="en-GB" b="1">
              <a:solidFill>
                <a:schemeClr val="bg1"/>
              </a:solidFill>
            </a:endParaRPr>
          </a:p>
        </p:txBody>
      </p:sp>
    </p:spTree>
    <p:extLst>
      <p:ext uri="{BB962C8B-B14F-4D97-AF65-F5344CB8AC3E}">
        <p14:creationId xmlns:p14="http://schemas.microsoft.com/office/powerpoint/2010/main" val="28374703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10B05-A861-105F-37D5-40E1DB00054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868696F-1D07-F460-3C5D-C561B536CA2F}"/>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2F2C4BC8-1902-1114-7894-3C4BAEACDC27}"/>
              </a:ext>
            </a:extLst>
          </p:cNvPr>
          <p:cNvSpPr/>
          <p:nvPr/>
        </p:nvSpPr>
        <p:spPr>
          <a:xfrm rot="5400000">
            <a:off x="2803258" y="-3545293"/>
            <a:ext cx="9172037" cy="1300016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CCF6BF22-F162-A938-8C20-F3565B07A7B7}"/>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D44A0207-9708-BBB7-6B9C-0113EFCD915D}"/>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bg1"/>
                </a:solidFill>
                <a:latin typeface="+mj-lt"/>
                <a:cs typeface="Aharoni" panose="02010803020104030203" pitchFamily="2" charset="-79"/>
              </a:rPr>
              <a:t>Componentes</a:t>
            </a:r>
            <a:endParaRPr lang="en-GB" sz="6600" b="1">
              <a:solidFill>
                <a:schemeClr val="bg1"/>
              </a:solidFill>
              <a:latin typeface="+mj-lt"/>
              <a:cs typeface="Aharoni" panose="02010803020104030203" pitchFamily="2" charset="-79"/>
            </a:endParaRPr>
          </a:p>
        </p:txBody>
      </p:sp>
      <p:grpSp>
        <p:nvGrpSpPr>
          <p:cNvPr id="7" name="Group 6">
            <a:extLst>
              <a:ext uri="{FF2B5EF4-FFF2-40B4-BE49-F238E27FC236}">
                <a16:creationId xmlns:a16="http://schemas.microsoft.com/office/drawing/2014/main" id="{A4F79441-01EC-42BF-4750-B6EEF85362BD}"/>
              </a:ext>
            </a:extLst>
          </p:cNvPr>
          <p:cNvGrpSpPr/>
          <p:nvPr/>
        </p:nvGrpSpPr>
        <p:grpSpPr>
          <a:xfrm>
            <a:off x="2044492" y="2450300"/>
            <a:ext cx="1341394" cy="2706291"/>
            <a:chOff x="2044492" y="2414349"/>
            <a:chExt cx="1341394" cy="2706291"/>
          </a:xfrm>
        </p:grpSpPr>
        <p:pic>
          <p:nvPicPr>
            <p:cNvPr id="1034" name="Picture 10" descr="18,400+ Phone Transparent Background Stock Illustrations, Royalty-Free  Vector Graphics &amp; Clip Art - iStock | Mobile phone transparent background,  Hand holding phone transparent background, Cell phone transparent background">
              <a:extLst>
                <a:ext uri="{FF2B5EF4-FFF2-40B4-BE49-F238E27FC236}">
                  <a16:creationId xmlns:a16="http://schemas.microsoft.com/office/drawing/2014/main" id="{BD8FA146-C07D-303E-F742-3DA6360C520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0654" t="7101" r="29608" b="7458"/>
            <a:stretch/>
          </p:blipFill>
          <p:spPr bwMode="auto">
            <a:xfrm>
              <a:off x="2044492" y="2847514"/>
              <a:ext cx="1081989" cy="22731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ndroid original wordmark logo - Social media &amp; Logos Icons">
              <a:extLst>
                <a:ext uri="{FF2B5EF4-FFF2-40B4-BE49-F238E27FC236}">
                  <a16:creationId xmlns:a16="http://schemas.microsoft.com/office/drawing/2014/main" id="{4C0BF03B-9F89-65CF-DDF8-D196103F256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946" r="15000" b="16354"/>
            <a:stretch/>
          </p:blipFill>
          <p:spPr bwMode="auto">
            <a:xfrm>
              <a:off x="2639612" y="2414349"/>
              <a:ext cx="746274" cy="8663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ouch Screen Icon Vector Art, Icons, and Graphics for Free Download">
              <a:extLst>
                <a:ext uri="{FF2B5EF4-FFF2-40B4-BE49-F238E27FC236}">
                  <a16:creationId xmlns:a16="http://schemas.microsoft.com/office/drawing/2014/main" id="{DE2C0C0D-493D-E868-2FE3-C7A40B7EC6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0473" y="3974278"/>
              <a:ext cx="778277" cy="7108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 name="Straight Arrow Connector 7">
            <a:extLst>
              <a:ext uri="{FF2B5EF4-FFF2-40B4-BE49-F238E27FC236}">
                <a16:creationId xmlns:a16="http://schemas.microsoft.com/office/drawing/2014/main" id="{596D6907-4AE2-0D71-C227-B655D26D0C70}"/>
              </a:ext>
            </a:extLst>
          </p:cNvPr>
          <p:cNvCxnSpPr>
            <a:cxnSpLocks/>
          </p:cNvCxnSpPr>
          <p:nvPr/>
        </p:nvCxnSpPr>
        <p:spPr>
          <a:xfrm>
            <a:off x="3596640" y="3819738"/>
            <a:ext cx="196088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056" name="Picture 8" descr="What's new in Firebase at I/O '24 - Google Developers Blog">
            <a:extLst>
              <a:ext uri="{FF2B5EF4-FFF2-40B4-BE49-F238E27FC236}">
                <a16:creationId xmlns:a16="http://schemas.microsoft.com/office/drawing/2014/main" id="{ECD84815-A024-AC9B-E6C4-6AF5742C90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7047" t="2340" r="33555" b="39532"/>
          <a:stretch/>
        </p:blipFill>
        <p:spPr bwMode="auto">
          <a:xfrm>
            <a:off x="5926289" y="3029800"/>
            <a:ext cx="1644606" cy="157987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14750923-0F5C-702F-2564-29D7D0FA9C85}"/>
              </a:ext>
            </a:extLst>
          </p:cNvPr>
          <p:cNvCxnSpPr>
            <a:cxnSpLocks/>
          </p:cNvCxnSpPr>
          <p:nvPr/>
        </p:nvCxnSpPr>
        <p:spPr>
          <a:xfrm flipH="1">
            <a:off x="3547557" y="4104218"/>
            <a:ext cx="1938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3A2E1CB-E0A4-6199-D910-44D02134849E}"/>
              </a:ext>
            </a:extLst>
          </p:cNvPr>
          <p:cNvCxnSpPr>
            <a:cxnSpLocks/>
          </p:cNvCxnSpPr>
          <p:nvPr/>
        </p:nvCxnSpPr>
        <p:spPr>
          <a:xfrm>
            <a:off x="7752080" y="9018591"/>
            <a:ext cx="90424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B0400A4-D0F6-A3C3-85FC-4D88153FD5B2}"/>
              </a:ext>
            </a:extLst>
          </p:cNvPr>
          <p:cNvCxnSpPr>
            <a:cxnSpLocks/>
          </p:cNvCxnSpPr>
          <p:nvPr/>
        </p:nvCxnSpPr>
        <p:spPr>
          <a:xfrm flipH="1">
            <a:off x="7702997" y="9303071"/>
            <a:ext cx="922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942FC9E4-4F98-CD96-1132-DEC4BAAC9FAE}"/>
              </a:ext>
            </a:extLst>
          </p:cNvPr>
          <p:cNvPicPr>
            <a:picLocks noChangeAspect="1"/>
          </p:cNvPicPr>
          <p:nvPr/>
        </p:nvPicPr>
        <p:blipFill>
          <a:blip r:embed="rId8"/>
          <a:stretch>
            <a:fillRect/>
          </a:stretch>
        </p:blipFill>
        <p:spPr>
          <a:xfrm>
            <a:off x="4205650" y="4188287"/>
            <a:ext cx="660400" cy="660400"/>
          </a:xfrm>
          <a:prstGeom prst="rect">
            <a:avLst/>
          </a:prstGeom>
        </p:spPr>
      </p:pic>
      <p:pic>
        <p:nvPicPr>
          <p:cNvPr id="2060" name="Picture 12" descr="PostgreSQL&quot; Icon - Download for free – Iconduck">
            <a:extLst>
              <a:ext uri="{FF2B5EF4-FFF2-40B4-BE49-F238E27FC236}">
                <a16:creationId xmlns:a16="http://schemas.microsoft.com/office/drawing/2014/main" id="{1E781CB4-214B-FC92-3E1E-5D6A8A08BF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00463" y="8381843"/>
            <a:ext cx="1612761" cy="166240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GraphQL - Wikipedia, la enciclopedia libre">
            <a:extLst>
              <a:ext uri="{FF2B5EF4-FFF2-40B4-BE49-F238E27FC236}">
                <a16:creationId xmlns:a16="http://schemas.microsoft.com/office/drawing/2014/main" id="{839E0323-749D-06EA-06E8-50768292DC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2291" y="2475802"/>
            <a:ext cx="1043175" cy="104317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41ADC2A0-4ED7-E54F-14D7-7EB6E8CDB5BE}"/>
              </a:ext>
            </a:extLst>
          </p:cNvPr>
          <p:cNvSpPr txBox="1"/>
          <p:nvPr/>
        </p:nvSpPr>
        <p:spPr>
          <a:xfrm>
            <a:off x="1808325" y="5545288"/>
            <a:ext cx="1662571" cy="523220"/>
          </a:xfrm>
          <a:prstGeom prst="rect">
            <a:avLst/>
          </a:prstGeom>
          <a:noFill/>
        </p:spPr>
        <p:txBody>
          <a:bodyPr wrap="none" rtlCol="0">
            <a:spAutoFit/>
          </a:bodyPr>
          <a:lstStyle/>
          <a:p>
            <a:r>
              <a:rPr lang="it-IT" sz="2800" b="1" err="1">
                <a:solidFill>
                  <a:schemeClr val="bg1"/>
                </a:solidFill>
              </a:rPr>
              <a:t>Frontend</a:t>
            </a:r>
            <a:endParaRPr lang="en-GB" b="1">
              <a:solidFill>
                <a:schemeClr val="bg1"/>
              </a:solidFill>
            </a:endParaRPr>
          </a:p>
        </p:txBody>
      </p:sp>
      <p:sp>
        <p:nvSpPr>
          <p:cNvPr id="30" name="TextBox 29">
            <a:extLst>
              <a:ext uri="{FF2B5EF4-FFF2-40B4-BE49-F238E27FC236}">
                <a16:creationId xmlns:a16="http://schemas.microsoft.com/office/drawing/2014/main" id="{39F35A2A-FB72-C0C9-BA6C-A69F6D8CBFF7}"/>
              </a:ext>
            </a:extLst>
          </p:cNvPr>
          <p:cNvSpPr txBox="1"/>
          <p:nvPr/>
        </p:nvSpPr>
        <p:spPr>
          <a:xfrm>
            <a:off x="5568236" y="5114400"/>
            <a:ext cx="2360710" cy="1384995"/>
          </a:xfrm>
          <a:prstGeom prst="rect">
            <a:avLst/>
          </a:prstGeom>
          <a:noFill/>
        </p:spPr>
        <p:txBody>
          <a:bodyPr wrap="none" rtlCol="0">
            <a:spAutoFit/>
          </a:bodyPr>
          <a:lstStyle/>
          <a:p>
            <a:pPr algn="ctr"/>
            <a:r>
              <a:rPr lang="it-IT" sz="2800" b="1" err="1">
                <a:solidFill>
                  <a:schemeClr val="bg1"/>
                </a:solidFill>
              </a:rPr>
              <a:t>Firebase</a:t>
            </a:r>
            <a:r>
              <a:rPr lang="it-IT" sz="2800" b="1">
                <a:solidFill>
                  <a:schemeClr val="bg1"/>
                </a:solidFill>
              </a:rPr>
              <a:t> </a:t>
            </a:r>
            <a:br>
              <a:rPr lang="it-IT" sz="2800" b="1">
                <a:solidFill>
                  <a:schemeClr val="bg1"/>
                </a:solidFill>
              </a:rPr>
            </a:br>
            <a:r>
              <a:rPr lang="it-IT" sz="2800" b="1" err="1">
                <a:solidFill>
                  <a:schemeClr val="bg1"/>
                </a:solidFill>
              </a:rPr>
              <a:t>DataConnect</a:t>
            </a:r>
            <a:endParaRPr lang="it-IT" sz="2800" b="1">
              <a:solidFill>
                <a:schemeClr val="bg1"/>
              </a:solidFill>
            </a:endParaRPr>
          </a:p>
          <a:p>
            <a:pPr algn="ctr"/>
            <a:r>
              <a:rPr lang="it-IT" sz="2800" b="1">
                <a:solidFill>
                  <a:schemeClr val="bg1"/>
                </a:solidFill>
              </a:rPr>
              <a:t>(</a:t>
            </a:r>
            <a:r>
              <a:rPr lang="it-IT" sz="2800" b="1" err="1">
                <a:solidFill>
                  <a:schemeClr val="bg1"/>
                </a:solidFill>
              </a:rPr>
              <a:t>GraphQL</a:t>
            </a:r>
            <a:r>
              <a:rPr lang="it-IT" sz="2800" b="1">
                <a:solidFill>
                  <a:schemeClr val="bg1"/>
                </a:solidFill>
              </a:rPr>
              <a:t>)</a:t>
            </a:r>
            <a:endParaRPr lang="en-GB" b="1">
              <a:solidFill>
                <a:schemeClr val="bg1"/>
              </a:solidFill>
            </a:endParaRPr>
          </a:p>
        </p:txBody>
      </p:sp>
      <p:sp>
        <p:nvSpPr>
          <p:cNvPr id="32" name="TextBox 31">
            <a:extLst>
              <a:ext uri="{FF2B5EF4-FFF2-40B4-BE49-F238E27FC236}">
                <a16:creationId xmlns:a16="http://schemas.microsoft.com/office/drawing/2014/main" id="{2C133447-3792-F84C-B81D-FC86E6B96EC5}"/>
              </a:ext>
            </a:extLst>
          </p:cNvPr>
          <p:cNvSpPr txBox="1"/>
          <p:nvPr/>
        </p:nvSpPr>
        <p:spPr>
          <a:xfrm>
            <a:off x="8584525" y="10602727"/>
            <a:ext cx="2087174" cy="954107"/>
          </a:xfrm>
          <a:prstGeom prst="rect">
            <a:avLst/>
          </a:prstGeom>
          <a:noFill/>
        </p:spPr>
        <p:txBody>
          <a:bodyPr wrap="none" rtlCol="0">
            <a:spAutoFit/>
          </a:bodyPr>
          <a:lstStyle/>
          <a:p>
            <a:pPr algn="ctr"/>
            <a:r>
              <a:rPr lang="it-IT" sz="2800" b="1" err="1">
                <a:solidFill>
                  <a:schemeClr val="bg1"/>
                </a:solidFill>
              </a:rPr>
              <a:t>PostgreSQL</a:t>
            </a:r>
            <a:endParaRPr lang="it-IT" sz="2800" b="1">
              <a:solidFill>
                <a:schemeClr val="bg1"/>
              </a:solidFill>
            </a:endParaRPr>
          </a:p>
          <a:p>
            <a:pPr algn="ctr"/>
            <a:r>
              <a:rPr lang="it-IT" sz="2800" b="1" err="1">
                <a:solidFill>
                  <a:schemeClr val="bg1"/>
                </a:solidFill>
              </a:rPr>
              <a:t>instance</a:t>
            </a:r>
            <a:endParaRPr lang="en-GB" b="1">
              <a:solidFill>
                <a:schemeClr val="bg1"/>
              </a:solidFill>
            </a:endParaRPr>
          </a:p>
        </p:txBody>
      </p:sp>
    </p:spTree>
    <p:extLst>
      <p:ext uri="{BB962C8B-B14F-4D97-AF65-F5344CB8AC3E}">
        <p14:creationId xmlns:p14="http://schemas.microsoft.com/office/powerpoint/2010/main" val="361858951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08D4-8D37-AFF4-690B-D09FAEFA3A0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D4291CC-A233-D403-1D78-6DB365F91CD0}"/>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6EDD7DED-6E34-13AA-5EAC-A20AD82C1F6B}"/>
              </a:ext>
            </a:extLst>
          </p:cNvPr>
          <p:cNvSpPr/>
          <p:nvPr/>
        </p:nvSpPr>
        <p:spPr>
          <a:xfrm rot="5400000">
            <a:off x="2803258" y="-3545293"/>
            <a:ext cx="9172037" cy="1300016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DA836FC4-D1D2-1894-8935-D5DBB8D41170}"/>
              </a:ext>
            </a:extLst>
          </p:cNvPr>
          <p:cNvSpPr/>
          <p:nvPr/>
        </p:nvSpPr>
        <p:spPr>
          <a:xfrm rot="5400000">
            <a:off x="8742123" y="1682811"/>
            <a:ext cx="8771576" cy="294440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4CDF646D-52FF-2992-9E56-7EE3D46BA5B6}"/>
              </a:ext>
            </a:extLst>
          </p:cNvPr>
          <p:cNvSpPr txBox="1"/>
          <p:nvPr/>
        </p:nvSpPr>
        <p:spPr>
          <a:xfrm>
            <a:off x="1737302" y="490617"/>
            <a:ext cx="8688837" cy="1107996"/>
          </a:xfrm>
          <a:prstGeom prst="rect">
            <a:avLst/>
          </a:prstGeom>
          <a:noFill/>
        </p:spPr>
        <p:txBody>
          <a:bodyPr wrap="square" rtlCol="0">
            <a:spAutoFit/>
          </a:bodyPr>
          <a:lstStyle/>
          <a:p>
            <a:r>
              <a:rPr lang="es-ES" sz="6600" b="1">
                <a:solidFill>
                  <a:schemeClr val="bg1"/>
                </a:solidFill>
                <a:latin typeface="+mj-lt"/>
                <a:cs typeface="Aharoni" panose="02010803020104030203" pitchFamily="2" charset="-79"/>
              </a:rPr>
              <a:t>Componentes</a:t>
            </a:r>
            <a:endParaRPr lang="en-GB" sz="6600" b="1">
              <a:solidFill>
                <a:schemeClr val="bg1"/>
              </a:solidFill>
              <a:latin typeface="+mj-lt"/>
              <a:cs typeface="Aharoni" panose="02010803020104030203" pitchFamily="2" charset="-79"/>
            </a:endParaRPr>
          </a:p>
        </p:txBody>
      </p:sp>
      <p:grpSp>
        <p:nvGrpSpPr>
          <p:cNvPr id="7" name="Group 6">
            <a:extLst>
              <a:ext uri="{FF2B5EF4-FFF2-40B4-BE49-F238E27FC236}">
                <a16:creationId xmlns:a16="http://schemas.microsoft.com/office/drawing/2014/main" id="{1AE27532-03AA-7073-2895-8C3AC54A7E8C}"/>
              </a:ext>
            </a:extLst>
          </p:cNvPr>
          <p:cNvGrpSpPr/>
          <p:nvPr/>
        </p:nvGrpSpPr>
        <p:grpSpPr>
          <a:xfrm>
            <a:off x="2044492" y="2450300"/>
            <a:ext cx="1341394" cy="2706291"/>
            <a:chOff x="2044492" y="2414349"/>
            <a:chExt cx="1341394" cy="2706291"/>
          </a:xfrm>
        </p:grpSpPr>
        <p:pic>
          <p:nvPicPr>
            <p:cNvPr id="1034" name="Picture 10" descr="18,400+ Phone Transparent Background Stock Illustrations, Royalty-Free  Vector Graphics &amp; Clip Art - iStock | Mobile phone transparent background,  Hand holding phone transparent background, Cell phone transparent background">
              <a:extLst>
                <a:ext uri="{FF2B5EF4-FFF2-40B4-BE49-F238E27FC236}">
                  <a16:creationId xmlns:a16="http://schemas.microsoft.com/office/drawing/2014/main" id="{DD7208BE-7DD4-B06E-3DF6-25824D59855F}"/>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0654" t="7101" r="29608" b="7458"/>
            <a:stretch/>
          </p:blipFill>
          <p:spPr bwMode="auto">
            <a:xfrm>
              <a:off x="2044492" y="2847514"/>
              <a:ext cx="1081989" cy="22731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ndroid original wordmark logo - Social media &amp; Logos Icons">
              <a:extLst>
                <a:ext uri="{FF2B5EF4-FFF2-40B4-BE49-F238E27FC236}">
                  <a16:creationId xmlns:a16="http://schemas.microsoft.com/office/drawing/2014/main" id="{6E4EC9CC-A756-D9D8-789C-C6B541194D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946" r="15000" b="16354"/>
            <a:stretch/>
          </p:blipFill>
          <p:spPr bwMode="auto">
            <a:xfrm>
              <a:off x="2639612" y="2414349"/>
              <a:ext cx="746274" cy="8663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ouch Screen Icon Vector Art, Icons, and Graphics for Free Download">
              <a:extLst>
                <a:ext uri="{FF2B5EF4-FFF2-40B4-BE49-F238E27FC236}">
                  <a16:creationId xmlns:a16="http://schemas.microsoft.com/office/drawing/2014/main" id="{09345EB9-A6A2-2E70-69C4-0369A4EB2B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0473" y="3974278"/>
              <a:ext cx="778277" cy="7108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 name="Straight Arrow Connector 7">
            <a:extLst>
              <a:ext uri="{FF2B5EF4-FFF2-40B4-BE49-F238E27FC236}">
                <a16:creationId xmlns:a16="http://schemas.microsoft.com/office/drawing/2014/main" id="{146F8439-2CC9-13B1-AF02-07EE8DDCD0F8}"/>
              </a:ext>
            </a:extLst>
          </p:cNvPr>
          <p:cNvCxnSpPr>
            <a:cxnSpLocks/>
          </p:cNvCxnSpPr>
          <p:nvPr/>
        </p:nvCxnSpPr>
        <p:spPr>
          <a:xfrm>
            <a:off x="3596640" y="3819738"/>
            <a:ext cx="196088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056" name="Picture 8" descr="What's new in Firebase at I/O '24 - Google Developers Blog">
            <a:extLst>
              <a:ext uri="{FF2B5EF4-FFF2-40B4-BE49-F238E27FC236}">
                <a16:creationId xmlns:a16="http://schemas.microsoft.com/office/drawing/2014/main" id="{D5DCF2CB-9ED6-ADF7-09C4-4F2A28A01CB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7047" t="2340" r="33555" b="39532"/>
          <a:stretch/>
        </p:blipFill>
        <p:spPr bwMode="auto">
          <a:xfrm>
            <a:off x="5926289" y="3029800"/>
            <a:ext cx="1644606" cy="157987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81F1641D-35D1-1496-9D7D-8F36CF6040CD}"/>
              </a:ext>
            </a:extLst>
          </p:cNvPr>
          <p:cNvCxnSpPr>
            <a:cxnSpLocks/>
          </p:cNvCxnSpPr>
          <p:nvPr/>
        </p:nvCxnSpPr>
        <p:spPr>
          <a:xfrm flipH="1">
            <a:off x="3547557" y="4104218"/>
            <a:ext cx="1938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4DC7EE7-D320-D374-03C5-05B4F342FF62}"/>
              </a:ext>
            </a:extLst>
          </p:cNvPr>
          <p:cNvCxnSpPr>
            <a:cxnSpLocks/>
          </p:cNvCxnSpPr>
          <p:nvPr/>
        </p:nvCxnSpPr>
        <p:spPr>
          <a:xfrm>
            <a:off x="7752080" y="3815776"/>
            <a:ext cx="904240"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818BCA9-1F13-122B-8BFD-32AA4B3AF0EE}"/>
              </a:ext>
            </a:extLst>
          </p:cNvPr>
          <p:cNvCxnSpPr>
            <a:cxnSpLocks/>
          </p:cNvCxnSpPr>
          <p:nvPr/>
        </p:nvCxnSpPr>
        <p:spPr>
          <a:xfrm flipH="1">
            <a:off x="7702997" y="4100256"/>
            <a:ext cx="92284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07B485E0-9B85-9E44-9861-394BF9A1CADE}"/>
              </a:ext>
            </a:extLst>
          </p:cNvPr>
          <p:cNvPicPr>
            <a:picLocks noChangeAspect="1"/>
          </p:cNvPicPr>
          <p:nvPr/>
        </p:nvPicPr>
        <p:blipFill>
          <a:blip r:embed="rId8"/>
          <a:stretch>
            <a:fillRect/>
          </a:stretch>
        </p:blipFill>
        <p:spPr>
          <a:xfrm>
            <a:off x="4205650" y="4188287"/>
            <a:ext cx="660400" cy="660400"/>
          </a:xfrm>
          <a:prstGeom prst="rect">
            <a:avLst/>
          </a:prstGeom>
        </p:spPr>
      </p:pic>
      <p:pic>
        <p:nvPicPr>
          <p:cNvPr id="2060" name="Picture 12" descr="PostgreSQL&quot; Icon - Download for free – Iconduck">
            <a:extLst>
              <a:ext uri="{FF2B5EF4-FFF2-40B4-BE49-F238E27FC236}">
                <a16:creationId xmlns:a16="http://schemas.microsoft.com/office/drawing/2014/main" id="{FF0A3AF6-8243-BFE3-CD04-6597B10F917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00463" y="3179028"/>
            <a:ext cx="1612761" cy="166240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GraphQL - Wikipedia, la enciclopedia libre">
            <a:extLst>
              <a:ext uri="{FF2B5EF4-FFF2-40B4-BE49-F238E27FC236}">
                <a16:creationId xmlns:a16="http://schemas.microsoft.com/office/drawing/2014/main" id="{E1AF018A-8A9A-481F-F263-17FC5A7247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2291" y="2475802"/>
            <a:ext cx="1043175" cy="104317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BE9CBD64-BBF8-4BE9-0BE6-0E0B9EC68118}"/>
              </a:ext>
            </a:extLst>
          </p:cNvPr>
          <p:cNvSpPr txBox="1"/>
          <p:nvPr/>
        </p:nvSpPr>
        <p:spPr>
          <a:xfrm>
            <a:off x="1808325" y="5545288"/>
            <a:ext cx="1662571" cy="523220"/>
          </a:xfrm>
          <a:prstGeom prst="rect">
            <a:avLst/>
          </a:prstGeom>
          <a:noFill/>
        </p:spPr>
        <p:txBody>
          <a:bodyPr wrap="none" rtlCol="0">
            <a:spAutoFit/>
          </a:bodyPr>
          <a:lstStyle/>
          <a:p>
            <a:r>
              <a:rPr lang="it-IT" sz="2800" b="1" err="1">
                <a:solidFill>
                  <a:schemeClr val="bg1"/>
                </a:solidFill>
              </a:rPr>
              <a:t>Frontend</a:t>
            </a:r>
            <a:endParaRPr lang="en-GB" b="1">
              <a:solidFill>
                <a:schemeClr val="bg1"/>
              </a:solidFill>
            </a:endParaRPr>
          </a:p>
        </p:txBody>
      </p:sp>
      <p:sp>
        <p:nvSpPr>
          <p:cNvPr id="30" name="TextBox 29">
            <a:extLst>
              <a:ext uri="{FF2B5EF4-FFF2-40B4-BE49-F238E27FC236}">
                <a16:creationId xmlns:a16="http://schemas.microsoft.com/office/drawing/2014/main" id="{D6355209-056A-0459-CB06-80149D367B75}"/>
              </a:ext>
            </a:extLst>
          </p:cNvPr>
          <p:cNvSpPr txBox="1"/>
          <p:nvPr/>
        </p:nvSpPr>
        <p:spPr>
          <a:xfrm>
            <a:off x="5568236" y="5114400"/>
            <a:ext cx="2360710" cy="1384995"/>
          </a:xfrm>
          <a:prstGeom prst="rect">
            <a:avLst/>
          </a:prstGeom>
          <a:noFill/>
        </p:spPr>
        <p:txBody>
          <a:bodyPr wrap="none" rtlCol="0">
            <a:spAutoFit/>
          </a:bodyPr>
          <a:lstStyle/>
          <a:p>
            <a:pPr algn="ctr"/>
            <a:r>
              <a:rPr lang="it-IT" sz="2800" b="1" err="1">
                <a:solidFill>
                  <a:schemeClr val="bg1"/>
                </a:solidFill>
              </a:rPr>
              <a:t>Firebase</a:t>
            </a:r>
            <a:r>
              <a:rPr lang="it-IT" sz="2800" b="1">
                <a:solidFill>
                  <a:schemeClr val="bg1"/>
                </a:solidFill>
              </a:rPr>
              <a:t> </a:t>
            </a:r>
            <a:br>
              <a:rPr lang="it-IT" sz="2800" b="1">
                <a:solidFill>
                  <a:schemeClr val="bg1"/>
                </a:solidFill>
              </a:rPr>
            </a:br>
            <a:r>
              <a:rPr lang="it-IT" sz="2800" b="1" err="1">
                <a:solidFill>
                  <a:schemeClr val="bg1"/>
                </a:solidFill>
              </a:rPr>
              <a:t>DataConnect</a:t>
            </a:r>
            <a:endParaRPr lang="it-IT" sz="2800" b="1">
              <a:solidFill>
                <a:schemeClr val="bg1"/>
              </a:solidFill>
            </a:endParaRPr>
          </a:p>
          <a:p>
            <a:pPr algn="ctr"/>
            <a:r>
              <a:rPr lang="it-IT" sz="2800" b="1">
                <a:solidFill>
                  <a:schemeClr val="bg1"/>
                </a:solidFill>
              </a:rPr>
              <a:t>(</a:t>
            </a:r>
            <a:r>
              <a:rPr lang="it-IT" sz="2800" b="1" err="1">
                <a:solidFill>
                  <a:schemeClr val="bg1"/>
                </a:solidFill>
              </a:rPr>
              <a:t>GraphQL</a:t>
            </a:r>
            <a:r>
              <a:rPr lang="it-IT" sz="2800" b="1">
                <a:solidFill>
                  <a:schemeClr val="bg1"/>
                </a:solidFill>
              </a:rPr>
              <a:t>)</a:t>
            </a:r>
            <a:endParaRPr lang="en-GB" b="1">
              <a:solidFill>
                <a:schemeClr val="bg1"/>
              </a:solidFill>
            </a:endParaRPr>
          </a:p>
        </p:txBody>
      </p:sp>
      <p:sp>
        <p:nvSpPr>
          <p:cNvPr id="32" name="TextBox 31">
            <a:extLst>
              <a:ext uri="{FF2B5EF4-FFF2-40B4-BE49-F238E27FC236}">
                <a16:creationId xmlns:a16="http://schemas.microsoft.com/office/drawing/2014/main" id="{EFACFA47-C0FD-A7A2-EC4C-B59FEF701714}"/>
              </a:ext>
            </a:extLst>
          </p:cNvPr>
          <p:cNvSpPr txBox="1"/>
          <p:nvPr/>
        </p:nvSpPr>
        <p:spPr>
          <a:xfrm>
            <a:off x="8584525" y="5329843"/>
            <a:ext cx="2087174" cy="954107"/>
          </a:xfrm>
          <a:prstGeom prst="rect">
            <a:avLst/>
          </a:prstGeom>
          <a:noFill/>
        </p:spPr>
        <p:txBody>
          <a:bodyPr wrap="none" lIns="91440" tIns="45720" rIns="91440" bIns="45720" rtlCol="0" anchor="t">
            <a:spAutoFit/>
          </a:bodyPr>
          <a:lstStyle/>
          <a:p>
            <a:pPr algn="ctr"/>
            <a:r>
              <a:rPr lang="it-IT" sz="2800" b="1" err="1">
                <a:solidFill>
                  <a:schemeClr val="bg1"/>
                </a:solidFill>
              </a:rPr>
              <a:t>Instancia</a:t>
            </a:r>
          </a:p>
          <a:p>
            <a:pPr algn="ctr"/>
            <a:r>
              <a:rPr lang="it-IT" sz="2800" b="1" err="1">
                <a:solidFill>
                  <a:schemeClr val="bg1"/>
                </a:solidFill>
              </a:rPr>
              <a:t>PostgreSQL</a:t>
            </a:r>
          </a:p>
        </p:txBody>
      </p:sp>
    </p:spTree>
    <p:extLst>
      <p:ext uri="{BB962C8B-B14F-4D97-AF65-F5344CB8AC3E}">
        <p14:creationId xmlns:p14="http://schemas.microsoft.com/office/powerpoint/2010/main" val="33055527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72E9-C0E5-C575-0018-5E576F17B3A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05D58C6-3AA5-5048-E12B-FB76C889F746}"/>
              </a:ext>
            </a:extLst>
          </p:cNvPr>
          <p:cNvSpPr/>
          <p:nvPr/>
        </p:nvSpPr>
        <p:spPr>
          <a:xfrm rot="5400000">
            <a:off x="2284450" y="-3395030"/>
            <a:ext cx="9172037" cy="13000159"/>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69ED29EC-2B67-5C80-3035-14DFD91C41C5}"/>
              </a:ext>
            </a:extLst>
          </p:cNvPr>
          <p:cNvSpPr/>
          <p:nvPr/>
        </p:nvSpPr>
        <p:spPr>
          <a:xfrm rot="5400000">
            <a:off x="2803258" y="-3545293"/>
            <a:ext cx="9172037" cy="13000160"/>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DA0AAD11-8BF1-9F8A-CFBC-C14303EC724E}"/>
              </a:ext>
            </a:extLst>
          </p:cNvPr>
          <p:cNvSpPr/>
          <p:nvPr/>
        </p:nvSpPr>
        <p:spPr>
          <a:xfrm rot="5400000">
            <a:off x="3602963" y="-3456349"/>
            <a:ext cx="8771576" cy="1322272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B2E83C7-8470-9959-A7F7-1EC5AD62F432}"/>
              </a:ext>
            </a:extLst>
          </p:cNvPr>
          <p:cNvSpPr txBox="1"/>
          <p:nvPr/>
        </p:nvSpPr>
        <p:spPr>
          <a:xfrm>
            <a:off x="1751581" y="479043"/>
            <a:ext cx="10765539" cy="1938992"/>
          </a:xfrm>
          <a:prstGeom prst="rect">
            <a:avLst/>
          </a:prstGeom>
          <a:noFill/>
        </p:spPr>
        <p:txBody>
          <a:bodyPr wrap="square" rtlCol="0">
            <a:spAutoFit/>
          </a:bodyPr>
          <a:lstStyle/>
          <a:p>
            <a:r>
              <a:rPr lang="es-ES" sz="6000" b="1">
                <a:solidFill>
                  <a:schemeClr val="bg1"/>
                </a:solidFill>
                <a:latin typeface="+mj-lt"/>
                <a:cs typeface="Aharoni" panose="02010803020104030203" pitchFamily="2" charset="-79"/>
              </a:rPr>
              <a:t>Interacción dinámica entre componentes</a:t>
            </a:r>
            <a:endParaRPr lang="en-GB" sz="6000" b="1">
              <a:solidFill>
                <a:schemeClr val="bg1"/>
              </a:solidFill>
              <a:latin typeface="+mj-lt"/>
              <a:cs typeface="Aharoni" panose="02010803020104030203" pitchFamily="2" charset="-79"/>
            </a:endParaRPr>
          </a:p>
        </p:txBody>
      </p:sp>
      <p:grpSp>
        <p:nvGrpSpPr>
          <p:cNvPr id="7" name="Group 6">
            <a:extLst>
              <a:ext uri="{FF2B5EF4-FFF2-40B4-BE49-F238E27FC236}">
                <a16:creationId xmlns:a16="http://schemas.microsoft.com/office/drawing/2014/main" id="{F93E2A19-CCEE-437D-8F98-AD6AC1F70A86}"/>
              </a:ext>
            </a:extLst>
          </p:cNvPr>
          <p:cNvGrpSpPr/>
          <p:nvPr/>
        </p:nvGrpSpPr>
        <p:grpSpPr>
          <a:xfrm>
            <a:off x="2020820" y="2836656"/>
            <a:ext cx="1341394" cy="2706291"/>
            <a:chOff x="2044492" y="2414349"/>
            <a:chExt cx="1341394" cy="2706291"/>
          </a:xfrm>
        </p:grpSpPr>
        <p:pic>
          <p:nvPicPr>
            <p:cNvPr id="8" name="Picture 10" descr="18,400+ Phone Transparent Background Stock Illustrations, Royalty-Free  Vector Graphics &amp; Clip Art - iStock | Mobile phone transparent background,  Hand holding phone transparent background, Cell phone transparent background">
              <a:extLst>
                <a:ext uri="{FF2B5EF4-FFF2-40B4-BE49-F238E27FC236}">
                  <a16:creationId xmlns:a16="http://schemas.microsoft.com/office/drawing/2014/main" id="{65A889B0-2FD5-002E-03E3-402C59967A0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0654" t="7101" r="29608" b="7458"/>
            <a:stretch/>
          </p:blipFill>
          <p:spPr bwMode="auto">
            <a:xfrm>
              <a:off x="2044492" y="2847514"/>
              <a:ext cx="1081989" cy="22731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Android original wordmark logo - Social media &amp; Logos Icons">
              <a:extLst>
                <a:ext uri="{FF2B5EF4-FFF2-40B4-BE49-F238E27FC236}">
                  <a16:creationId xmlns:a16="http://schemas.microsoft.com/office/drawing/2014/main" id="{DF3E76B3-7B0C-436D-33C9-FB8BEF9E2A6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946" r="15000" b="16354"/>
            <a:stretch/>
          </p:blipFill>
          <p:spPr bwMode="auto">
            <a:xfrm>
              <a:off x="2639612" y="2414349"/>
              <a:ext cx="746274" cy="8663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Touch Screen Icon Vector Art, Icons, and Graphics for Free Download">
              <a:extLst>
                <a:ext uri="{FF2B5EF4-FFF2-40B4-BE49-F238E27FC236}">
                  <a16:creationId xmlns:a16="http://schemas.microsoft.com/office/drawing/2014/main" id="{FC2797D2-6040-A7D9-81C1-D429A94482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0473" y="3974278"/>
              <a:ext cx="778277" cy="7108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 name="Straight Arrow Connector 10">
            <a:extLst>
              <a:ext uri="{FF2B5EF4-FFF2-40B4-BE49-F238E27FC236}">
                <a16:creationId xmlns:a16="http://schemas.microsoft.com/office/drawing/2014/main" id="{E1FDB375-A464-F38C-2256-D2A32BF92E9D}"/>
              </a:ext>
            </a:extLst>
          </p:cNvPr>
          <p:cNvCxnSpPr>
            <a:cxnSpLocks/>
          </p:cNvCxnSpPr>
          <p:nvPr/>
        </p:nvCxnSpPr>
        <p:spPr>
          <a:xfrm>
            <a:off x="3390427" y="3806294"/>
            <a:ext cx="1064194"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75FD1EF3-E339-9C51-A7D6-D51333E9D9B8}"/>
              </a:ext>
            </a:extLst>
          </p:cNvPr>
          <p:cNvSpPr/>
          <p:nvPr/>
        </p:nvSpPr>
        <p:spPr>
          <a:xfrm>
            <a:off x="4600767" y="3336021"/>
            <a:ext cx="1662334" cy="940545"/>
          </a:xfrm>
          <a:prstGeom prst="roundRect">
            <a:avLst/>
          </a:prstGeom>
          <a:solidFill>
            <a:schemeClr val="accent3">
              <a:lumMod val="20000"/>
              <a:lumOff val="80000"/>
            </a:schemeClr>
          </a:solidFill>
          <a:ln w="381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err="1">
                <a:solidFill>
                  <a:schemeClr val="tx1"/>
                </a:solidFill>
              </a:rPr>
              <a:t>ViewModel</a:t>
            </a:r>
            <a:endParaRPr lang="en-GB">
              <a:solidFill>
                <a:schemeClr val="tx1"/>
              </a:solidFill>
            </a:endParaRPr>
          </a:p>
        </p:txBody>
      </p:sp>
      <p:cxnSp>
        <p:nvCxnSpPr>
          <p:cNvPr id="18" name="Straight Arrow Connector 17">
            <a:extLst>
              <a:ext uri="{FF2B5EF4-FFF2-40B4-BE49-F238E27FC236}">
                <a16:creationId xmlns:a16="http://schemas.microsoft.com/office/drawing/2014/main" id="{58917A10-244A-B39A-7B6B-E17A648F1696}"/>
              </a:ext>
            </a:extLst>
          </p:cNvPr>
          <p:cNvCxnSpPr>
            <a:cxnSpLocks/>
          </p:cNvCxnSpPr>
          <p:nvPr/>
        </p:nvCxnSpPr>
        <p:spPr>
          <a:xfrm>
            <a:off x="6447482" y="3806293"/>
            <a:ext cx="1064194"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D810EF78-C30D-4897-1E50-500B8BF2FBCD}"/>
              </a:ext>
            </a:extLst>
          </p:cNvPr>
          <p:cNvSpPr/>
          <p:nvPr/>
        </p:nvSpPr>
        <p:spPr>
          <a:xfrm>
            <a:off x="7808721" y="3336021"/>
            <a:ext cx="1662334" cy="940545"/>
          </a:xfrm>
          <a:prstGeom prst="roundRect">
            <a:avLst/>
          </a:prstGeom>
          <a:solidFill>
            <a:schemeClr val="accent3">
              <a:lumMod val="20000"/>
              <a:lumOff val="80000"/>
            </a:schemeClr>
          </a:solidFill>
          <a:ln w="381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solidFill>
                  <a:schemeClr val="tx1"/>
                </a:solidFill>
              </a:rPr>
              <a:t>Repository</a:t>
            </a:r>
            <a:endParaRPr lang="en-GB">
              <a:solidFill>
                <a:schemeClr val="tx1"/>
              </a:solidFill>
            </a:endParaRPr>
          </a:p>
        </p:txBody>
      </p:sp>
      <p:cxnSp>
        <p:nvCxnSpPr>
          <p:cNvPr id="20" name="Straight Arrow Connector 19">
            <a:extLst>
              <a:ext uri="{FF2B5EF4-FFF2-40B4-BE49-F238E27FC236}">
                <a16:creationId xmlns:a16="http://schemas.microsoft.com/office/drawing/2014/main" id="{B1177246-8475-E221-5E09-D4DAEA25E6CB}"/>
              </a:ext>
            </a:extLst>
          </p:cNvPr>
          <p:cNvCxnSpPr>
            <a:cxnSpLocks/>
          </p:cNvCxnSpPr>
          <p:nvPr/>
        </p:nvCxnSpPr>
        <p:spPr>
          <a:xfrm>
            <a:off x="9577942" y="3813917"/>
            <a:ext cx="693818" cy="475787"/>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422F32F-7410-1C4C-CFA7-2DC6AD790271}"/>
              </a:ext>
            </a:extLst>
          </p:cNvPr>
          <p:cNvSpPr/>
          <p:nvPr/>
        </p:nvSpPr>
        <p:spPr>
          <a:xfrm>
            <a:off x="9983446" y="4396585"/>
            <a:ext cx="1662334" cy="940545"/>
          </a:xfrm>
          <a:prstGeom prst="roundRect">
            <a:avLst/>
          </a:prstGeom>
          <a:solidFill>
            <a:schemeClr val="accent3">
              <a:lumMod val="20000"/>
              <a:lumOff val="80000"/>
            </a:schemeClr>
          </a:solidFill>
          <a:ln w="381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err="1">
                <a:solidFill>
                  <a:schemeClr val="tx1"/>
                </a:solidFill>
              </a:rPr>
              <a:t>DataSource</a:t>
            </a:r>
            <a:endParaRPr lang="en-GB">
              <a:solidFill>
                <a:schemeClr val="tx1"/>
              </a:solidFill>
            </a:endParaRPr>
          </a:p>
        </p:txBody>
      </p:sp>
      <p:cxnSp>
        <p:nvCxnSpPr>
          <p:cNvPr id="22" name="Straight Arrow Connector 21">
            <a:extLst>
              <a:ext uri="{FF2B5EF4-FFF2-40B4-BE49-F238E27FC236}">
                <a16:creationId xmlns:a16="http://schemas.microsoft.com/office/drawing/2014/main" id="{51984111-057E-CEAA-0FC5-D056C8DAA0F2}"/>
              </a:ext>
            </a:extLst>
          </p:cNvPr>
          <p:cNvCxnSpPr>
            <a:cxnSpLocks/>
          </p:cNvCxnSpPr>
          <p:nvPr/>
        </p:nvCxnSpPr>
        <p:spPr>
          <a:xfrm flipH="1">
            <a:off x="9577942" y="5438412"/>
            <a:ext cx="693818" cy="470272"/>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DD41A5CE-4B6D-FCCE-7D57-7F74791BE3F6}"/>
              </a:ext>
            </a:extLst>
          </p:cNvPr>
          <p:cNvSpPr/>
          <p:nvPr/>
        </p:nvSpPr>
        <p:spPr>
          <a:xfrm>
            <a:off x="7808721" y="5438412"/>
            <a:ext cx="1662334" cy="940545"/>
          </a:xfrm>
          <a:prstGeom prst="roundRect">
            <a:avLst/>
          </a:prstGeom>
          <a:solidFill>
            <a:schemeClr val="accent3">
              <a:lumMod val="20000"/>
              <a:lumOff val="80000"/>
            </a:schemeClr>
          </a:solidFill>
          <a:ln w="381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err="1">
                <a:solidFill>
                  <a:schemeClr val="tx1"/>
                </a:solidFill>
              </a:rPr>
              <a:t>Firebase</a:t>
            </a:r>
            <a:r>
              <a:rPr lang="it-IT">
                <a:solidFill>
                  <a:schemeClr val="tx1"/>
                </a:solidFill>
              </a:rPr>
              <a:t> Connector</a:t>
            </a:r>
            <a:endParaRPr lang="en-GB">
              <a:solidFill>
                <a:schemeClr val="tx1"/>
              </a:solidFill>
            </a:endParaRPr>
          </a:p>
        </p:txBody>
      </p:sp>
      <p:cxnSp>
        <p:nvCxnSpPr>
          <p:cNvPr id="26" name="Straight Arrow Connector 25">
            <a:extLst>
              <a:ext uri="{FF2B5EF4-FFF2-40B4-BE49-F238E27FC236}">
                <a16:creationId xmlns:a16="http://schemas.microsoft.com/office/drawing/2014/main" id="{2973DBB6-1B53-60F4-20C2-F303D9B2A461}"/>
              </a:ext>
            </a:extLst>
          </p:cNvPr>
          <p:cNvCxnSpPr>
            <a:cxnSpLocks/>
          </p:cNvCxnSpPr>
          <p:nvPr/>
        </p:nvCxnSpPr>
        <p:spPr>
          <a:xfrm flipH="1">
            <a:off x="6495583" y="5908684"/>
            <a:ext cx="101609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4C9A025D-EB33-F6DC-F35C-7405F52D1DF5}"/>
              </a:ext>
            </a:extLst>
          </p:cNvPr>
          <p:cNvSpPr/>
          <p:nvPr/>
        </p:nvSpPr>
        <p:spPr>
          <a:xfrm>
            <a:off x="4542832" y="5438412"/>
            <a:ext cx="1662334" cy="940545"/>
          </a:xfrm>
          <a:prstGeom prst="roundRect">
            <a:avLst/>
          </a:prstGeom>
          <a:solidFill>
            <a:schemeClr val="accent3">
              <a:lumMod val="20000"/>
              <a:lumOff val="80000"/>
            </a:schemeClr>
          </a:solidFill>
          <a:ln w="381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err="1">
                <a:solidFill>
                  <a:schemeClr val="tx1"/>
                </a:solidFill>
              </a:rPr>
              <a:t>DataConnect</a:t>
            </a:r>
            <a:r>
              <a:rPr lang="it-IT">
                <a:solidFill>
                  <a:schemeClr val="tx1"/>
                </a:solidFill>
              </a:rPr>
              <a:t> </a:t>
            </a:r>
            <a:r>
              <a:rPr lang="it-IT" err="1">
                <a:solidFill>
                  <a:schemeClr val="tx1"/>
                </a:solidFill>
              </a:rPr>
              <a:t>Backend</a:t>
            </a:r>
            <a:endParaRPr lang="en-GB">
              <a:solidFill>
                <a:schemeClr val="tx1"/>
              </a:solidFill>
            </a:endParaRPr>
          </a:p>
        </p:txBody>
      </p:sp>
      <p:sp>
        <p:nvSpPr>
          <p:cNvPr id="29" name="TextBox 28">
            <a:extLst>
              <a:ext uri="{FF2B5EF4-FFF2-40B4-BE49-F238E27FC236}">
                <a16:creationId xmlns:a16="http://schemas.microsoft.com/office/drawing/2014/main" id="{97737F69-DB4E-F529-9E1A-130B7B384ECA}"/>
              </a:ext>
            </a:extLst>
          </p:cNvPr>
          <p:cNvSpPr txBox="1"/>
          <p:nvPr/>
        </p:nvSpPr>
        <p:spPr>
          <a:xfrm>
            <a:off x="1798320" y="5527907"/>
            <a:ext cx="1841145" cy="830997"/>
          </a:xfrm>
          <a:prstGeom prst="rect">
            <a:avLst/>
          </a:prstGeom>
          <a:noFill/>
        </p:spPr>
        <p:txBody>
          <a:bodyPr wrap="none" rtlCol="0">
            <a:spAutoFit/>
          </a:bodyPr>
          <a:lstStyle/>
          <a:p>
            <a:r>
              <a:rPr lang="it-IT" sz="2400" b="1" err="1">
                <a:solidFill>
                  <a:schemeClr val="bg1"/>
                </a:solidFill>
              </a:rPr>
              <a:t>Interacci</a:t>
            </a:r>
            <a:r>
              <a:rPr lang="es-ES" sz="2400" b="1" err="1">
                <a:solidFill>
                  <a:schemeClr val="bg1"/>
                </a:solidFill>
              </a:rPr>
              <a:t>ón</a:t>
            </a:r>
            <a:r>
              <a:rPr lang="es-ES" sz="2400" b="1">
                <a:solidFill>
                  <a:schemeClr val="bg1"/>
                </a:solidFill>
              </a:rPr>
              <a:t> </a:t>
            </a:r>
          </a:p>
          <a:p>
            <a:r>
              <a:rPr lang="es-ES" sz="2400" b="1">
                <a:solidFill>
                  <a:schemeClr val="bg1"/>
                </a:solidFill>
              </a:rPr>
              <a:t>usuario</a:t>
            </a:r>
            <a:endParaRPr lang="en-GB" sz="1600" b="1">
              <a:solidFill>
                <a:schemeClr val="bg1"/>
              </a:solidFill>
            </a:endParaRPr>
          </a:p>
        </p:txBody>
      </p:sp>
    </p:spTree>
    <p:extLst>
      <p:ext uri="{BB962C8B-B14F-4D97-AF65-F5344CB8AC3E}">
        <p14:creationId xmlns:p14="http://schemas.microsoft.com/office/powerpoint/2010/main" val="1515858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E6C2D-2220-7471-7300-7A0D75CE2B7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254BC95-EDF5-ABAA-4B1C-93D83956E6CE}"/>
              </a:ext>
            </a:extLst>
          </p:cNvPr>
          <p:cNvSpPr/>
          <p:nvPr/>
        </p:nvSpPr>
        <p:spPr>
          <a:xfrm rot="5400000">
            <a:off x="7254746" y="1153822"/>
            <a:ext cx="9172037" cy="4018203"/>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AC6936E3-A5E7-7F6D-93DE-3836D6A0DB5E}"/>
              </a:ext>
            </a:extLst>
          </p:cNvPr>
          <p:cNvSpPr/>
          <p:nvPr/>
        </p:nvSpPr>
        <p:spPr>
          <a:xfrm rot="5400000">
            <a:off x="7841678" y="1071682"/>
            <a:ext cx="9172037" cy="3881959"/>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D16D6528-CE6C-C4B0-6080-0F05B635DCC5}"/>
              </a:ext>
            </a:extLst>
          </p:cNvPr>
          <p:cNvSpPr/>
          <p:nvPr/>
        </p:nvSpPr>
        <p:spPr>
          <a:xfrm rot="5400000">
            <a:off x="8752668" y="1271910"/>
            <a:ext cx="8771576" cy="388195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BAC8B06D-23A0-AE32-9F04-B78E9FF8FB99}"/>
              </a:ext>
            </a:extLst>
          </p:cNvPr>
          <p:cNvSpPr txBox="1"/>
          <p:nvPr/>
        </p:nvSpPr>
        <p:spPr>
          <a:xfrm>
            <a:off x="2153260" y="2658891"/>
            <a:ext cx="8688837" cy="1107996"/>
          </a:xfrm>
          <a:prstGeom prst="rect">
            <a:avLst/>
          </a:prstGeom>
          <a:noFill/>
        </p:spPr>
        <p:txBody>
          <a:bodyPr wrap="square" rtlCol="0">
            <a:spAutoFit/>
          </a:bodyPr>
          <a:lstStyle/>
          <a:p>
            <a:r>
              <a:rPr lang="es-ES" sz="6600" b="1">
                <a:solidFill>
                  <a:schemeClr val="accent1"/>
                </a:solidFill>
                <a:latin typeface="+mj-lt"/>
                <a:cs typeface="Aharoni" panose="02010803020104030203" pitchFamily="2" charset="-79"/>
              </a:rPr>
              <a:t>Demo</a:t>
            </a:r>
            <a:endParaRPr lang="en-GB" sz="6600" b="1">
              <a:solidFill>
                <a:schemeClr val="accent1"/>
              </a:solidFill>
              <a:latin typeface="+mj-lt"/>
              <a:cs typeface="Aharoni" panose="02010803020104030203" pitchFamily="2" charset="-79"/>
            </a:endParaRPr>
          </a:p>
        </p:txBody>
      </p:sp>
    </p:spTree>
    <p:extLst>
      <p:ext uri="{BB962C8B-B14F-4D97-AF65-F5344CB8AC3E}">
        <p14:creationId xmlns:p14="http://schemas.microsoft.com/office/powerpoint/2010/main" val="11565462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30167-421A-3AE9-329E-BDDD6012242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D77FD69-41CC-BDAA-751A-0119F935ED73}"/>
              </a:ext>
            </a:extLst>
          </p:cNvPr>
          <p:cNvSpPr/>
          <p:nvPr/>
        </p:nvSpPr>
        <p:spPr>
          <a:xfrm rot="5400000">
            <a:off x="2492246" y="-3608678"/>
            <a:ext cx="9172037" cy="13543202"/>
          </a:xfrm>
          <a:prstGeom prst="rect">
            <a:avLst/>
          </a:prstGeom>
          <a:solidFill>
            <a:schemeClr val="accent1">
              <a:lumMod val="20000"/>
              <a:lumOff val="80000"/>
            </a:schemeClr>
          </a:solidFill>
          <a:ln>
            <a:solidFill>
              <a:schemeClr val="accent1">
                <a:lumMod val="20000"/>
                <a:lumOff val="80000"/>
              </a:schemeClr>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5" name="Rectangle 4">
            <a:extLst>
              <a:ext uri="{FF2B5EF4-FFF2-40B4-BE49-F238E27FC236}">
                <a16:creationId xmlns:a16="http://schemas.microsoft.com/office/drawing/2014/main" id="{7F10DCAF-602B-D0AF-3571-27265F156440}"/>
              </a:ext>
            </a:extLst>
          </p:cNvPr>
          <p:cNvSpPr/>
          <p:nvPr/>
        </p:nvSpPr>
        <p:spPr>
          <a:xfrm rot="5400000">
            <a:off x="7841678" y="1071682"/>
            <a:ext cx="9172037" cy="3881959"/>
          </a:xfrm>
          <a:prstGeom prst="rect">
            <a:avLst/>
          </a:prstGeom>
          <a:solidFill>
            <a:srgbClr val="3995BF"/>
          </a:solidFill>
          <a:ln>
            <a:solidFill>
              <a:srgbClr val="3995BF"/>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4" name="Rectangle 3">
            <a:extLst>
              <a:ext uri="{FF2B5EF4-FFF2-40B4-BE49-F238E27FC236}">
                <a16:creationId xmlns:a16="http://schemas.microsoft.com/office/drawing/2014/main" id="{EB593645-5F60-5104-2A74-CAA30C0C70F8}"/>
              </a:ext>
            </a:extLst>
          </p:cNvPr>
          <p:cNvSpPr/>
          <p:nvPr/>
        </p:nvSpPr>
        <p:spPr>
          <a:xfrm rot="5400000">
            <a:off x="8752668" y="1271910"/>
            <a:ext cx="8771576" cy="3881958"/>
          </a:xfrm>
          <a:prstGeom prst="rect">
            <a:avLst/>
          </a:prstGeom>
          <a:ln>
            <a:solidFill>
              <a:schemeClr val="accent1"/>
            </a:solidFill>
          </a:ln>
          <a:effectLst>
            <a:outerShdw blurRad="63500" sx="104000" sy="104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Complete_Demo">
            <a:hlinkClick r:id="" action="ppaction://media"/>
            <a:extLst>
              <a:ext uri="{FF2B5EF4-FFF2-40B4-BE49-F238E27FC236}">
                <a16:creationId xmlns:a16="http://schemas.microsoft.com/office/drawing/2014/main" id="{4E1CF9B1-E24E-1701-8FBA-E2CE572E5BB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38129" y="232592"/>
            <a:ext cx="3499622" cy="6176318"/>
          </a:xfrm>
          <a:prstGeom prst="rect">
            <a:avLst/>
          </a:prstGeom>
        </p:spPr>
      </p:pic>
    </p:spTree>
    <p:extLst>
      <p:ext uri="{BB962C8B-B14F-4D97-AF65-F5344CB8AC3E}">
        <p14:creationId xmlns:p14="http://schemas.microsoft.com/office/powerpoint/2010/main" val="19451632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23</Slides>
  <Notes>8</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2025-05-02T17:11:17Z</dcterms:created>
  <dcterms:modified xsi:type="dcterms:W3CDTF">2025-11-22T19:01:16Z</dcterms:modified>
</cp:coreProperties>
</file>